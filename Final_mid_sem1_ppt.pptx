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6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09" y="17418"/>
            <a:ext cx="12191695" cy="685800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058400" cy="174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300" b="1">
                <a:solidFill>
                  <a:srgbClr val="64748B"/>
                </a:solidFill>
                <a:latin typeface="Segoe UI"/>
              </a:defRPr>
            </a:pPr>
            <a:r>
              <a:rPr dirty="0"/>
              <a:t>NATIONAL INSTITUTE OF TECHNOLOGY KURUKSHETRA</a:t>
            </a:r>
            <a:br>
              <a:rPr dirty="0"/>
            </a:br>
            <a:r>
              <a:rPr dirty="0"/>
              <a:t>DEPARTMENT OF COMPUTER ENGINEERING</a:t>
            </a:r>
          </a:p>
          <a:p>
            <a:pPr algn="ctr">
              <a:spcBef>
                <a:spcPts val="1200"/>
              </a:spcBef>
              <a:defRPr sz="2100" b="1">
                <a:solidFill>
                  <a:srgbClr val="1E3A8A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Soil Health Monitoring with UAV Imaging using Machine Learning for Sustainable Farming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475569"/>
                </a:solidFill>
                <a:latin typeface="Segoe UI"/>
              </a:defRPr>
            </a:pPr>
            <a:r>
              <a:rPr dirty="0" err="1">
                <a:solidFill>
                  <a:schemeClr val="bg1"/>
                </a:solidFill>
              </a:rPr>
              <a:t>SwaYaan</a:t>
            </a:r>
            <a:r>
              <a:rPr dirty="0">
                <a:solidFill>
                  <a:schemeClr val="bg1"/>
                </a:solidFill>
              </a:rPr>
              <a:t> Proof-of-Concept Project (C-DAC Hyderabad / </a:t>
            </a:r>
            <a:r>
              <a:rPr dirty="0" err="1">
                <a:solidFill>
                  <a:schemeClr val="bg1"/>
                </a:solidFill>
              </a:rPr>
              <a:t>MeitY</a:t>
            </a:r>
            <a:r>
              <a:rPr dirty="0">
                <a:solidFill>
                  <a:schemeClr val="bg1"/>
                </a:solidFill>
              </a:rPr>
              <a:t>) | Course Code: CSPC401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114800"/>
            <a:ext cx="9966960" cy="2194560"/>
          </a:xfrm>
          <a:prstGeom prst="roundRect">
            <a:avLst/>
          </a:prstGeom>
          <a:solidFill>
            <a:srgbClr val="183050"/>
          </a:solidFill>
          <a:ln>
            <a:solidFill>
              <a:srgbClr val="32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PRESENTED BY: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• Naveen (Roll No: 123102131, Section CS-B4)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• </a:t>
            </a:r>
            <a:r>
              <a:rPr dirty="0" err="1">
                <a:solidFill>
                  <a:schemeClr val="bg1"/>
                </a:solidFill>
              </a:rPr>
              <a:t>Nakul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Goutam</a:t>
            </a:r>
            <a:r>
              <a:rPr dirty="0">
                <a:solidFill>
                  <a:schemeClr val="bg1"/>
                </a:solidFill>
              </a:rPr>
              <a:t> (Roll No: 123102123, Section CS-B4)</a:t>
            </a:r>
          </a:p>
          <a:p>
            <a:pPr>
              <a:spcBef>
                <a:spcPts val="1000"/>
              </a:spcBef>
              <a:defRPr sz="1100" b="1">
                <a:solidFill>
                  <a:srgbClr val="1E3A8A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PROJECT SUPERVISORS: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• Dr. </a:t>
            </a:r>
            <a:r>
              <a:rPr dirty="0" err="1">
                <a:solidFill>
                  <a:schemeClr val="bg1"/>
                </a:solidFill>
              </a:rPr>
              <a:t>Ritu</a:t>
            </a:r>
            <a:r>
              <a:rPr dirty="0">
                <a:solidFill>
                  <a:schemeClr val="bg1"/>
                </a:solidFill>
              </a:rPr>
              <a:t> Garg, Associate Professor (Principal Investigator)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• Dr. Amandeep Kaur, Assistant Professor (Co-PI)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MID-SEMESTER EVALUATION (CSPC401)</a:t>
            </a:r>
          </a:p>
          <a:p>
            <a:pPr>
              <a:defRPr sz="2100" b="1">
                <a:solidFill>
                  <a:srgbClr val="102542"/>
                </a:solidFill>
              </a:defRPr>
            </a:pPr>
            <a:r>
              <a:t>Presentation Outline &amp;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841248"/>
          </a:xfrm>
          <a:prstGeom prst="roundRect">
            <a:avLst/>
          </a:prstGeom>
          <a:solidFill>
            <a:srgbClr val="F8F9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719072"/>
            <a:ext cx="822960" cy="502920"/>
          </a:xfrm>
          <a:prstGeom prst="round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64208"/>
            <a:ext cx="9326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102542"/>
                </a:solidFill>
              </a:defRPr>
            </a:pPr>
            <a:r>
              <a:t>Problem Identification &amp; Regional Agricultural Context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Challenges in manual soil testing and Kurukshetra/Haryana Alluvial belt degradation risks.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728655" cy="841248"/>
          </a:xfrm>
          <a:prstGeom prst="roundRect">
            <a:avLst/>
          </a:prstGeom>
          <a:solidFill>
            <a:srgbClr val="F8F9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2679192"/>
            <a:ext cx="822960" cy="502920"/>
          </a:xfrm>
          <a:prstGeom prst="round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624328"/>
            <a:ext cx="9326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102542"/>
                </a:solidFill>
              </a:defRPr>
            </a:pPr>
            <a:r>
              <a:t>Literature Review &amp; Research Gap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Critique of base paper (Elsevier EAAI 2025 (Sheth et al.)) and justification of our novel dual-branch architecture.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728655" cy="841248"/>
          </a:xfrm>
          <a:prstGeom prst="roundRect">
            <a:avLst/>
          </a:prstGeom>
          <a:solidFill>
            <a:srgbClr val="F8F9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822960" cy="502920"/>
          </a:xfrm>
          <a:prstGeom prst="round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584448"/>
            <a:ext cx="9326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102542"/>
                </a:solidFill>
              </a:defRPr>
            </a:pPr>
            <a:r>
              <a:t>System Architecture: UAV-SoilHealthNet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Cross-modal fusion of MobileNetV3 + CBAM Attention with 60 Handcrafted Agronomic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10728655" cy="841248"/>
          </a:xfrm>
          <a:prstGeom prst="roundRect">
            <a:avLst/>
          </a:prstGeom>
          <a:solidFill>
            <a:srgbClr val="F8F9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4599432"/>
            <a:ext cx="822960" cy="502920"/>
          </a:xfrm>
          <a:prstGeom prst="round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544568"/>
            <a:ext cx="9326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102542"/>
                </a:solidFill>
              </a:defRPr>
            </a:pPr>
            <a:r>
              <a:t>Progress Achieved: Multi-Task Benchmarking &amp; XAI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Multi-task evaluation (Soil Type, Health Status, SHI Index), Grad-CAM heatmaps &amp; comparison.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94960"/>
            <a:ext cx="10728655" cy="841248"/>
          </a:xfrm>
          <a:prstGeom prst="roundRect">
            <a:avLst/>
          </a:prstGeom>
          <a:solidFill>
            <a:srgbClr val="F8F9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4400" y="5559552"/>
            <a:ext cx="822960" cy="502920"/>
          </a:xfrm>
          <a:prstGeom prst="round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504688"/>
            <a:ext cx="93268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102542"/>
                </a:solidFill>
              </a:defRPr>
            </a:pPr>
            <a:r>
              <a:t>Decision Support: Live Diagnostic Console &amp; ICAR Advisory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Operational live Streamlit diagnostic console, Grad-CAM visual overlays, and ICAR farmer prescription cards.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MID-SEMESTER EVALUATION (CSPC401)</a:t>
            </a:r>
          </a:p>
          <a:p>
            <a:pPr>
              <a:defRPr sz="2100" b="1">
                <a:solidFill>
                  <a:srgbClr val="102542"/>
                </a:solidFill>
              </a:defRPr>
            </a:pPr>
            <a:r>
              <a:t>1. Problem Identification: Soil Health &amp; Regional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20640" cy="4663440"/>
          </a:xfrm>
          <a:prstGeom prst="roundRect">
            <a:avLst/>
          </a:prstGeom>
          <a:solidFill>
            <a:srgbClr val="FDF6F6"/>
          </a:solidFill>
          <a:ln>
            <a:solidFill>
              <a:srgbClr val="F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1200"/>
              </a:spcAft>
              <a:defRPr sz="1200" b="1">
                <a:solidFill>
                  <a:srgbClr val="BE2828"/>
                </a:solidFill>
              </a:defRPr>
            </a:pPr>
            <a:r>
              <a:rPr sz="1600" dirty="0"/>
              <a:t>LIMITATIONS OF TRADITIONAL TESTING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02542"/>
                </a:solidFill>
              </a:rPr>
              <a:t>• Point-Sparse Sampling: </a:t>
            </a:r>
            <a:r>
              <a:rPr sz="1400" dirty="0">
                <a:solidFill>
                  <a:srgbClr val="212529"/>
                </a:solidFill>
              </a:rPr>
              <a:t>In a 20-acre parcel, only 5-10 point samples are taken. Micro-spatial variances between sampling points are completely lost.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02542"/>
                </a:solidFill>
              </a:rPr>
              <a:t>• High Time Latency: </a:t>
            </a:r>
            <a:r>
              <a:rPr sz="1400" dirty="0">
                <a:solidFill>
                  <a:srgbClr val="212529"/>
                </a:solidFill>
              </a:rPr>
              <a:t>Wet-chemistry laboratory assays take 10-20 days. Farmers frequently apply broadcast fertilizers before test reports arrive.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02542"/>
                </a:solidFill>
              </a:rPr>
              <a:t>• High Recurring Costs: </a:t>
            </a:r>
            <a:r>
              <a:rPr sz="1400" dirty="0">
                <a:solidFill>
                  <a:srgbClr val="212529"/>
                </a:solidFill>
              </a:rPr>
              <a:t>Testing costs ₹300-₹800/sample, hindering frequent seasonal soil health tracking for smallholders.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02542"/>
                </a:solidFill>
              </a:rPr>
              <a:t>• No Continuous Spatial Maps: </a:t>
            </a:r>
            <a:r>
              <a:rPr sz="1400" dirty="0">
                <a:solidFill>
                  <a:srgbClr val="212529"/>
                </a:solidFill>
              </a:rPr>
              <a:t>Outputs are tabular numbers, unable to feed modern Variable Rate Application (VRA) precision sprayers.</a:t>
            </a:r>
            <a:endParaRPr sz="1050" dirty="0">
              <a:solidFill>
                <a:srgbClr val="212529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309360" y="1600200"/>
            <a:ext cx="5120640" cy="4663440"/>
          </a:xfrm>
          <a:prstGeom prst="roundRect">
            <a:avLst/>
          </a:prstGeom>
          <a:solidFill>
            <a:srgbClr val="F5FCF8"/>
          </a:solidFill>
          <a:ln>
            <a:solidFill>
              <a:srgbClr val="A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1200"/>
              </a:spcAft>
              <a:defRPr sz="1200" b="1">
                <a:solidFill>
                  <a:srgbClr val="1E824C"/>
                </a:solidFill>
              </a:defRPr>
            </a:pPr>
            <a:r>
              <a:rPr sz="1600" dirty="0"/>
              <a:t>REGIONAL KURUKSHETRA REALITY &amp; UAV FIT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02542"/>
                </a:solidFill>
              </a:rPr>
              <a:t>✔ Indo-Gangetic Alluvial Belt: </a:t>
            </a:r>
            <a:r>
              <a:rPr sz="1400" dirty="0" err="1">
                <a:solidFill>
                  <a:srgbClr val="212529"/>
                </a:solidFill>
              </a:rPr>
              <a:t>Kurukshetra</a:t>
            </a:r>
            <a:r>
              <a:rPr sz="1400" dirty="0">
                <a:solidFill>
                  <a:srgbClr val="212529"/>
                </a:solidFill>
              </a:rPr>
              <a:t> and Haryana have naturally fertile alluvial soil, but suffer from intensive Rice-Wheat monoculture degradation.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02542"/>
                </a:solidFill>
              </a:rPr>
              <a:t>✔ Emerging Degradation Zones: </a:t>
            </a:r>
            <a:r>
              <a:rPr sz="1400" dirty="0">
                <a:solidFill>
                  <a:srgbClr val="212529"/>
                </a:solidFill>
              </a:rPr>
              <a:t>Excessive tube-well irrigation causes localized sodic/saline crusts, soil compaction, and organic carbon depletion.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chemeClr val="tx1"/>
                </a:solidFill>
              </a:rPr>
              <a:t>✔ Low-Altitude UAV Advantage: Drones flying at 15-30m AGL capture high-resolution bare-soil aerial imagery with sub-centimeter GSD before sowing.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02542"/>
                </a:solidFill>
              </a:rPr>
              <a:t>✔ Physical Visual Proxies: </a:t>
            </a:r>
            <a:r>
              <a:rPr sz="1400" dirty="0">
                <a:solidFill>
                  <a:srgbClr val="212529"/>
                </a:solidFill>
              </a:rPr>
              <a:t>Soil surface crusting, crack density, structural roughness, and organic darkness proxies can be detected without unscientific claims of reading NPK from RGB pixels.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MID-SEMESTER EVALUATION (CSPC401)</a:t>
            </a:r>
          </a:p>
          <a:p>
            <a:pPr>
              <a:defRPr sz="2100" b="1">
                <a:solidFill>
                  <a:srgbClr val="102542"/>
                </a:solidFill>
              </a:defRPr>
            </a:pPr>
            <a:r>
              <a:t>1. Project Objectives (Aligned with SwaYaan PoC)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719072"/>
            <a:ext cx="1371600" cy="50292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Objective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645920"/>
            <a:ext cx="8778240" cy="72327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1E824C"/>
                </a:solidFill>
              </a:defRPr>
            </a:pPr>
            <a:r>
              <a:rPr sz="1600" dirty="0"/>
              <a:t>Autonomous UAV Data Acquisition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rPr sz="1400" dirty="0"/>
              <a:t>Deploy low-altitude UAV imaging (15-30m AGL, 75-80% overlap) over agricultural plots to capture high-resolution visual surface benchmarks.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728655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2679192"/>
            <a:ext cx="1371600" cy="50292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Objective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06040"/>
            <a:ext cx="8778240" cy="661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1E824C"/>
                </a:solidFill>
              </a:defRPr>
            </a:pPr>
            <a:r>
              <a:rPr sz="1200" dirty="0"/>
              <a:t>Agronomic Feature Extraction Pipeline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rPr sz="1400" dirty="0"/>
              <a:t>Design a 60-dimensional handcrafted feature extractor encoding GLCM </a:t>
            </a:r>
            <a:r>
              <a:rPr sz="1400" dirty="0" err="1"/>
              <a:t>Haralick</a:t>
            </a:r>
            <a:r>
              <a:rPr sz="1400" dirty="0"/>
              <a:t> texture, Local Binary Patterns (LBP), and multi-space color moments</a:t>
            </a:r>
            <a:r>
              <a:rPr sz="1100"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728655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3639312"/>
            <a:ext cx="1371600" cy="50292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Objective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573998"/>
            <a:ext cx="8778240" cy="661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1E824C"/>
                </a:solidFill>
              </a:defRPr>
            </a:pPr>
            <a:r>
              <a:rPr sz="1200" dirty="0"/>
              <a:t>Multi-Task Deep Learning Modeling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rPr sz="1400" dirty="0"/>
              <a:t>Build and optimize UAV-</a:t>
            </a:r>
            <a:r>
              <a:rPr sz="1400" dirty="0" err="1"/>
              <a:t>SoilHealthNet</a:t>
            </a:r>
            <a:r>
              <a:rPr sz="1400" dirty="0"/>
              <a:t> to simultaneously perform Soil Type Classification, Health Status Classification, and continuous 0-100 SHI Regression.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10728655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4599432"/>
            <a:ext cx="1371600" cy="50292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Objective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3966" y="4703064"/>
            <a:ext cx="8763153" cy="38472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1E824C"/>
                </a:solidFill>
              </a:defRPr>
            </a:pPr>
            <a:r>
              <a:rPr sz="1100" dirty="0"/>
              <a:t>Explainable AI &amp; Visual Verification (Grad-CAM)</a:t>
            </a:r>
            <a:br>
              <a:rPr sz="1100" dirty="0"/>
            </a:br>
            <a:r>
              <a:rPr sz="1100" dirty="0"/>
              <a:t>Integrate gradient-weighted class activation mapping (Grad-CAM) to inspect attention on soil clods and validate deep vision predictions</a:t>
            </a:r>
            <a:r>
              <a:rPr sz="1100" dirty="0" smtClean="0"/>
              <a:t>.</a:t>
            </a:r>
            <a:endParaRPr sz="1100" dirty="0"/>
          </a:p>
        </p:txBody>
      </p:sp>
      <p:sp>
        <p:nvSpPr>
          <p:cNvPr id="16" name="Rounded Rectangle 15"/>
          <p:cNvSpPr/>
          <p:nvPr/>
        </p:nvSpPr>
        <p:spPr>
          <a:xfrm>
            <a:off x="731520" y="5403669"/>
            <a:ext cx="10728655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5559552"/>
            <a:ext cx="1371600" cy="50292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Objective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486400"/>
            <a:ext cx="8778240" cy="64633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1E824C"/>
                </a:solidFill>
              </a:defRPr>
            </a:pPr>
            <a:r>
              <a:rPr dirty="0"/>
              <a:t>Farmer-Oriented Decision Support (ICAR Guidelines</a:t>
            </a:r>
            <a:r>
              <a:rPr dirty="0" smtClean="0"/>
              <a:t>)</a:t>
            </a:r>
            <a:r>
              <a:rPr dirty="0"/>
              <a:t/>
            </a:r>
            <a:br>
              <a:rPr dirty="0"/>
            </a:br>
            <a:r>
              <a:rPr dirty="0" smtClean="0"/>
              <a:t>T</a:t>
            </a:r>
            <a:r>
              <a:rPr dirty="0" smtClean="0">
                <a:solidFill>
                  <a:schemeClr val="bg2">
                    <a:lumMod val="10000"/>
                  </a:schemeClr>
                </a:solidFill>
              </a:rPr>
              <a:t>ranslate 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classified soil zones into actionable, ICAR &amp; CCS HAU 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Hisar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 compliant prescription cards (crop suitability, fertilizer NPK ratios, irrigation scheduling).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MID-SEMESTER EVALUATION (CSPC401)</a:t>
            </a:r>
          </a:p>
          <a:p>
            <a:pPr>
              <a:defRPr sz="2100" b="1">
                <a:solidFill>
                  <a:srgbClr val="102542"/>
                </a:solidFill>
              </a:defRPr>
            </a:pPr>
            <a:r>
              <a:t>2. Literature Review &amp; Novelty over Prior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7018" y="1108166"/>
            <a:ext cx="10728655" cy="18288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982177"/>
              </p:ext>
            </p:extLst>
          </p:nvPr>
        </p:nvGraphicFramePr>
        <p:xfrm>
          <a:off x="418011" y="1197428"/>
          <a:ext cx="11425645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1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2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2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Feature / Dimension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Elsevier EAAI (2025) Base Paper (Sheth et al.)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Our Proposed Framework: UAV-SoilHealthNet (NIT KKR)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600" dirty="0"/>
                        <a:t>Imaging Platform &amp; Operational Scale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Close-up handheld smartphone camera photos (~30 cm) &amp; Google scraped images; evaluates only tiny point soil patches.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Autonomous low-altitude UAV Drone Imagery (15–30m AGL, GSD: 0.8 cm/px); scans entire 10–50 acre agricultural plots.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600"/>
                        <a:t>Model Architecture &amp; Edge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Massive 350M+ parameter ensemble (</a:t>
                      </a:r>
                      <a:r>
                        <a:rPr sz="1600" dirty="0" err="1"/>
                        <a:t>ViT</a:t>
                      </a:r>
                      <a:r>
                        <a:rPr sz="1600" dirty="0"/>
                        <a:t>-L/16 + EffNetV2-Large + ResNet152, &gt;1.4 GB memory); requires cloud desktop RTX 3080 </a:t>
                      </a:r>
                      <a:r>
                        <a:rPr sz="1600" dirty="0" err="1"/>
                        <a:t>Ti</a:t>
                      </a:r>
                      <a:r>
                        <a:rPr sz="1600" dirty="0"/>
                        <a:t> GPU.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Lightweight Dual-Branch UAV-SoilHealthNet (14.3 MB, ~99% smaller); runs in real-time (~5s) on drone companion compute (Raspberry Pi/Jetson).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600"/>
                        <a:t>Feature Representation &amp; Noise Immunity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Pure black-box RGB pixels; vulnerable to lighting shifts, cast shadows, weed foliage, and </a:t>
                      </a:r>
                      <a:r>
                        <a:rPr sz="1600" dirty="0" err="1"/>
                        <a:t>CycleGAN</a:t>
                      </a:r>
                      <a:r>
                        <a:rPr sz="1600" dirty="0"/>
                        <a:t> artifacts (e.g. 34-38% </a:t>
                      </a:r>
                      <a:r>
                        <a:rPr sz="1600" dirty="0" err="1"/>
                        <a:t>conf</a:t>
                      </a:r>
                      <a:r>
                        <a:rPr sz="1600" dirty="0"/>
                        <a:t>).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Cross-Modal Fusion: Deep CNN Attention + 60 Handcrafted Agronomic Descriptors (GLCM </a:t>
                      </a:r>
                      <a:r>
                        <a:rPr sz="1600" dirty="0" err="1"/>
                        <a:t>Haralick</a:t>
                      </a:r>
                      <a:r>
                        <a:rPr sz="1600" dirty="0"/>
                        <a:t>, LBP, Color Moments); immune to background noise.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600"/>
                        <a:t>Soil Chemistry &amp; Diagnostic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Single-task classification only (soil name); requires farmers to manually type N-P-K &amp; pH into phone text boxes (no optical estimation).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Multi-Task Joint Heads: Predicts Soil Type + Degradation Health Status + continuous 0–100 Soil Health Index (SHI) from optical physical proxies.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600"/>
                        <a:t>Explainability &amp; Agricultural Advisory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100% Black-box (no XAI); generic text crop list ('Rice', 'Wheat') from 270 fuzzy rules; no visual verification.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Integrated Grad-CAM Visual </a:t>
                      </a:r>
                      <a:r>
                        <a:rPr sz="1600" dirty="0" err="1"/>
                        <a:t>Heatmaps</a:t>
                      </a:r>
                      <a:r>
                        <a:rPr sz="1600" dirty="0"/>
                        <a:t> + ICAR &amp; CCS HAU </a:t>
                      </a:r>
                      <a:r>
                        <a:rPr sz="1600" dirty="0" err="1"/>
                        <a:t>Hisar</a:t>
                      </a:r>
                      <a:r>
                        <a:rPr sz="1600" dirty="0"/>
                        <a:t> Actionable Prescription Cards (Cultivars, Bio-Decomposer, Green Manuring).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MID-SEMESTER EVALUATION (CSPC401)</a:t>
            </a:r>
          </a:p>
          <a:p>
            <a:pPr>
              <a:defRPr sz="2100" b="1">
                <a:solidFill>
                  <a:srgbClr val="102542"/>
                </a:solidFill>
              </a:defRPr>
            </a:pPr>
            <a:r>
              <a:t>3. System Architecture: UAV-SoilHealthNet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456432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3456432" cy="77724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rPr sz="1600" dirty="0"/>
              <a:t>BRANCH 1: DEEP VISION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rPr sz="1100" dirty="0"/>
              <a:t>MobileNetV3 Backbone + CBAM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456432" cy="3621504"/>
          </a:xfrm>
          <a:prstGeom prst="rect">
            <a:avLst/>
          </a:prstGeom>
          <a:noFill/>
        </p:spPr>
        <p:txBody>
          <a:bodyPr wrap="square" lIns="228600" tIns="137160" rIns="228600">
            <a:spAutoFit/>
          </a:bodyPr>
          <a:lstStyle/>
          <a:p>
            <a:pPr>
              <a:defRPr sz="1050">
                <a:solidFill>
                  <a:srgbClr val="212529"/>
                </a:solidFill>
              </a:defRPr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</a:t>
            </a:r>
            <a:r>
              <a:rPr sz="1400" b="1" dirty="0" err="1">
                <a:solidFill>
                  <a:srgbClr val="0F172A"/>
                </a:solidFill>
                <a:latin typeface="Segoe UI"/>
              </a:rPr>
              <a:t>Depthwise</a:t>
            </a:r>
            <a:r>
              <a:rPr sz="1400" b="1" dirty="0">
                <a:solidFill>
                  <a:srgbClr val="0F172A"/>
                </a:solidFill>
                <a:latin typeface="Segoe UI"/>
              </a:rPr>
              <a:t> Separable Convolutions: 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Employs MobileNetV3-Large backbone, slashing compute latency while extracting robust multi-scale visual textures.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CBAM Attention Module: 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Combines Channel and Spatial attention to focus on soil surface aggregate clods and crusting while suppressing ambient background noise.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Latent Projection: 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Produces an optimized 256-D deep vision latent feature vector for cross-modal fusion.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00200"/>
            <a:ext cx="3456432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70832" y="1600200"/>
            <a:ext cx="3456432" cy="77724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rPr sz="1600" dirty="0"/>
              <a:t>BRANCH 2: DOMAIN FEATURES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rPr sz="1100" dirty="0"/>
              <a:t>60 Handcrafted Agronomic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2468880"/>
            <a:ext cx="3456432" cy="3406061"/>
          </a:xfrm>
          <a:prstGeom prst="rect">
            <a:avLst/>
          </a:prstGeom>
          <a:noFill/>
        </p:spPr>
        <p:txBody>
          <a:bodyPr wrap="square" lIns="228600" tIns="137160" rIns="228600">
            <a:spAutoFit/>
          </a:bodyPr>
          <a:lstStyle/>
          <a:p>
            <a:pPr>
              <a:defRPr sz="1050">
                <a:solidFill>
                  <a:srgbClr val="212529"/>
                </a:solidFill>
              </a:defRPr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GLCM </a:t>
            </a:r>
            <a:r>
              <a:rPr sz="1400" b="1" dirty="0" err="1">
                <a:solidFill>
                  <a:srgbClr val="0F172A"/>
                </a:solidFill>
                <a:latin typeface="Segoe UI"/>
              </a:rPr>
              <a:t>Haralick</a:t>
            </a:r>
            <a:r>
              <a:rPr sz="1400" b="1" dirty="0">
                <a:solidFill>
                  <a:srgbClr val="0F172A"/>
                </a:solidFill>
                <a:latin typeface="Segoe UI"/>
              </a:rPr>
              <a:t> Textures: 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Extracts surface contrast, dissimilarity, homogeneity, energy, and correlation across 4 directional angles (0°, 45°, 90°, 135°).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Local Binary Patterns (LBP): 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Encodes micro-granularity, surface roughness, and fine clod size variance across 10 histogram bins.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Multi-Color-Space Moments: 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Computes statistical moments across RGB, HSV, and CIE Lab channels to capture Soil Organic Matter (SOM) darkness proxies.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00200"/>
            <a:ext cx="3456432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10144" y="1600200"/>
            <a:ext cx="3456432" cy="77724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rPr sz="1600" dirty="0"/>
              <a:t>CROSS-MODAL FUSION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rPr sz="1100" dirty="0"/>
              <a:t>Multi-Task Joint Optimization 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0144" y="2468880"/>
            <a:ext cx="3456432" cy="3190617"/>
          </a:xfrm>
          <a:prstGeom prst="rect">
            <a:avLst/>
          </a:prstGeom>
          <a:noFill/>
        </p:spPr>
        <p:txBody>
          <a:bodyPr wrap="square" lIns="228600" tIns="137160" rIns="228600">
            <a:spAutoFit/>
          </a:bodyPr>
          <a:lstStyle/>
          <a:p>
            <a:pPr>
              <a:defRPr sz="1050">
                <a:solidFill>
                  <a:srgbClr val="212529"/>
                </a:solidFill>
              </a:defRPr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Cross-Modal Fusion: 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Concatenates 256-D deep vision features with projected 64-D domain features via </a:t>
            </a:r>
            <a:r>
              <a:rPr sz="1400" dirty="0" err="1">
                <a:solidFill>
                  <a:srgbClr val="334155"/>
                </a:solidFill>
                <a:latin typeface="Segoe UI"/>
              </a:rPr>
              <a:t>BatchNorm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 and Dropout (0.3).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Head 1 (Soil Classification): 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Predicts across 7 Major Indian Soil Types (Alluvial, Arid, Black, Laterite, Mountain, Red, Yellow Soil).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Head 2 &amp; 3 (Health Diagnosis): 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Jointly predicts 3-class Degradation Status (Healthy, Moderate, Degraded) and continuous 0–100 Soil Health Index </a:t>
            </a:r>
            <a:r>
              <a:rPr sz="1000" dirty="0">
                <a:solidFill>
                  <a:srgbClr val="334155"/>
                </a:solidFill>
                <a:latin typeface="Segoe UI"/>
              </a:rPr>
              <a:t>(SHI).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MID-SEMESTER EVALUATION (CSPC401)</a:t>
            </a:r>
          </a:p>
          <a:p>
            <a:pPr>
              <a:defRPr sz="2100" b="1">
                <a:solidFill>
                  <a:srgbClr val="102542"/>
                </a:solidFill>
              </a:defRPr>
            </a:pPr>
            <a:r>
              <a:t>4. Progress Achieved: Comparative Model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266307"/>
              </p:ext>
            </p:extLst>
          </p:nvPr>
        </p:nvGraphicFramePr>
        <p:xfrm>
          <a:off x="339633" y="1076960"/>
          <a:ext cx="5786847" cy="553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6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0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5630">
                <a:tc>
                  <a:txBody>
                    <a:bodyPr/>
                    <a:lstStyle/>
                    <a:p>
                      <a:r>
                        <a:t>Model Evaluated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F1 Score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Evaluation Status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r>
                        <a:t>Baseline MobileNetV2 (Base Paper)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 Established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r>
                        <a:t>Baseline SoilCNN (2025 Paper)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 Established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 Established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r>
                        <a:t>Random Forest (Baseline 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 Established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r>
                        <a:t>Support Vector Machine (SVM)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 Established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5630">
                <a:tc>
                  <a:txBody>
                    <a:bodyPr/>
                    <a:lstStyle/>
                    <a:p>
                      <a:r>
                        <a:t>PROPOSED: UAV-SoilHealthNet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80.56%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0.741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dirty="0"/>
                        <a:t>Proposed Dual-Branch Model ★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 descr="comparative_model_benchmark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00200"/>
            <a:ext cx="5303520" cy="31821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4892040"/>
            <a:ext cx="5303520" cy="1097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950" b="1">
                <a:solidFill>
                  <a:srgbClr val="1E3A8A"/>
                </a:solidFill>
                <a:latin typeface="Segoe UI"/>
              </a:rPr>
              <a:t>✔ Edge Efficiency: </a:t>
            </a:r>
            <a:r>
              <a:rPr sz="950">
                <a:solidFill>
                  <a:srgbClr val="334155"/>
                </a:solidFill>
                <a:latin typeface="Segoe UI"/>
              </a:rPr>
              <a:t>UAV-SoilHealthNet achieves 80.56% multi-task accuracy in only 14.3 MB (~99% smaller than base paper), outperforming baseline MobileNetV2 (75.29%).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66534"/>
                </a:solidFill>
                <a:latin typeface="Segoe UI"/>
              </a:rPr>
              <a:t>✔ Noise Invariance: </a:t>
            </a:r>
            <a:r>
              <a:rPr sz="950">
                <a:solidFill>
                  <a:srgbClr val="334155"/>
                </a:solidFill>
                <a:latin typeface="Segoe UI"/>
              </a:rPr>
              <a:t>The 60 handcrafted features maintain mathematical stability on authentic Indian field soils without requiring a 1.4 GB cloud GPU ensemble.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MID-SEMESTER EVALUATION (CSPC401)</a:t>
            </a:r>
          </a:p>
          <a:p>
            <a:pPr>
              <a:defRPr sz="2100" b="1">
                <a:solidFill>
                  <a:srgbClr val="102542"/>
                </a:solidFill>
              </a:defRPr>
            </a:pPr>
            <a:r>
              <a:t>4. Progress Achieved: Multi-Task Confusion Matrices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m_proposed_uav-soilhealthnet_soil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5120640" cy="4389120"/>
          </a:xfrm>
          <a:prstGeom prst="rect">
            <a:avLst/>
          </a:prstGeom>
        </p:spPr>
      </p:pic>
      <p:pic>
        <p:nvPicPr>
          <p:cNvPr id="5" name="Picture 4" descr="cm_proposed_uav-soilhealthnet_health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00200"/>
            <a:ext cx="5212080" cy="44674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MID-SEMESTER EVALUATION (CSPC401)</a:t>
            </a:r>
          </a:p>
          <a:p>
            <a:pPr>
              <a:defRPr sz="2100" b="1">
                <a:solidFill>
                  <a:srgbClr val="102542"/>
                </a:solidFill>
              </a:defRPr>
            </a:pPr>
            <a:r>
              <a:t>4. Progress Achieved: Explainable AI with Grad-CAM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quickstart_grad_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600200"/>
            <a:ext cx="46634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00200"/>
            <a:ext cx="3840480" cy="4663440"/>
          </a:xfrm>
          <a:prstGeom prst="roundRect">
            <a:avLst/>
          </a:prstGeom>
          <a:solidFill>
            <a:srgbClr val="F8F9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102542"/>
                </a:solidFill>
              </a:defRPr>
            </a:pPr>
            <a:r>
              <a:rPr sz="1600" dirty="0"/>
              <a:t>WHY EXPLAINABILITY MATTERS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E824C"/>
                </a:solidFill>
              </a:rPr>
              <a:t>✔ Transparent Decision-Making: </a:t>
            </a:r>
            <a:r>
              <a:rPr sz="1400" dirty="0">
                <a:solidFill>
                  <a:srgbClr val="212529"/>
                </a:solidFill>
              </a:rPr>
              <a:t>Agricultural stakeholders and agronomists distrust black-box deep learning. Grad-CAM visualizes what the network 'looks at'.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E824C"/>
                </a:solidFill>
              </a:rPr>
              <a:t>✔ Physical Aggregate Detection: </a:t>
            </a:r>
            <a:r>
              <a:rPr sz="1400" dirty="0">
                <a:solidFill>
                  <a:srgbClr val="212529"/>
                </a:solidFill>
              </a:rPr>
              <a:t>The attention </a:t>
            </a:r>
            <a:r>
              <a:rPr sz="1400" dirty="0" err="1">
                <a:solidFill>
                  <a:srgbClr val="212529"/>
                </a:solidFill>
              </a:rPr>
              <a:t>heatmap</a:t>
            </a:r>
            <a:r>
              <a:rPr sz="1400" dirty="0">
                <a:solidFill>
                  <a:srgbClr val="212529"/>
                </a:solidFill>
              </a:rPr>
              <a:t> focuses directly on surface soil clods, crusting lines, and moisture dark spots rather than image background.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E824C"/>
                </a:solidFill>
              </a:rPr>
              <a:t>✔ Verification of CBAM: </a:t>
            </a:r>
            <a:r>
              <a:rPr sz="1400" dirty="0">
                <a:solidFill>
                  <a:srgbClr val="212529"/>
                </a:solidFill>
              </a:rPr>
              <a:t>Confirms that the Convolutional Block Attention Module correctly suppresses peripheral flight noise while elevating soil structural regions.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291072"/>
            <a:ext cx="4663440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defRPr sz="950" i="1">
                <a:solidFill>
                  <a:srgbClr val="475569"/>
                </a:solidFill>
                <a:latin typeface="Segoe UI"/>
              </a:defRPr>
            </a:pPr>
            <a:r>
              <a:t>Grad-CAM Saliency Map: High activation on soil aggregate clods and surface crusting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MID-SEMESTER EVALUATION (CSPC401)</a:t>
            </a:r>
          </a:p>
          <a:p>
            <a:pPr>
              <a:defRPr sz="2100" b="1">
                <a:solidFill>
                  <a:srgbClr val="102542"/>
                </a:solidFill>
              </a:defRPr>
            </a:pPr>
            <a:r>
              <a:t>5. Decision Support: Live Diagnostic Web Console &amp; ICAR Advisory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20640" cy="4663440"/>
          </a:xfrm>
          <a:prstGeom prst="roundRect">
            <a:avLst/>
          </a:prstGeom>
          <a:solidFill>
            <a:srgbClr val="F5FCF8"/>
          </a:solidFill>
          <a:ln>
            <a:solidFill>
              <a:srgbClr val="A0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166534"/>
                </a:solidFill>
                <a:latin typeface="Segoe UI"/>
              </a:defRPr>
            </a:pPr>
            <a:r>
              <a:rPr sz="1600" dirty="0"/>
              <a:t>🌾 ICAR-COMPLIANT PRESCRIPTION CARD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Location: 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NIT </a:t>
            </a:r>
            <a:r>
              <a:rPr sz="1400" dirty="0" err="1">
                <a:solidFill>
                  <a:srgbClr val="334155"/>
                </a:solidFill>
                <a:latin typeface="Segoe UI"/>
              </a:rPr>
              <a:t>Kurukshetra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 Agricultural Research Field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Classified Soil: 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Alluvial Soil (Healthy, SHI: 88.5 / 100)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Recommended Crops: 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Wheat (HD 3086), Paddy (Basmati CSR 30), Sugarcane, Mustard (RGN 73)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Irrigation Protocol: 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Moderate frequency (every 10–14 days), border strip or sprinkler systems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• Sustainable Actions: 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Apply microbial bio-decomposer spray post-harvest for rapid stubble decomposition without burning; practice green manuring with </a:t>
            </a:r>
            <a:r>
              <a:rPr sz="1400" dirty="0" err="1">
                <a:solidFill>
                  <a:srgbClr val="334155"/>
                </a:solidFill>
                <a:latin typeface="Segoe UI"/>
              </a:rPr>
              <a:t>Dhaincha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rPr sz="1600" dirty="0"/>
              <a:t>💻 OPERATIONAL STREAMLIT DIAGNOSTIC CONSOLE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✔ Real-Time Multi-Task Inference: 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Instant prediction of Soil Type across 7 Indian classes, 3-class Degradation Status, and continuous 0–100 SHI score on field photos.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✔ Interactive Grad-CAM Saliency: 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Real-time toggle overlaying visual attention </a:t>
            </a:r>
            <a:r>
              <a:rPr sz="1400" dirty="0" err="1">
                <a:solidFill>
                  <a:srgbClr val="334155"/>
                </a:solidFill>
                <a:latin typeface="Segoe UI"/>
              </a:rPr>
              <a:t>heatmaps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 directly on uploaded soil samples to inspect model focus.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✔ Automated Vegetation Removal: 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Built-in spectral filter eliminates weed canopy and </a:t>
            </a:r>
            <a:r>
              <a:rPr sz="1400" dirty="0" err="1">
                <a:solidFill>
                  <a:srgbClr val="334155"/>
                </a:solidFill>
                <a:latin typeface="Segoe UI"/>
              </a:rPr>
              <a:t>inpaints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 bare soil texture before machine learning inference.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✔ Prescription Card Export: 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One-click generation and instant download of formatted ICAR farmer advisory cards.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✔ Committee Review Ready: 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Deployed live via </a:t>
            </a:r>
            <a:r>
              <a:rPr sz="1400" dirty="0" err="1">
                <a:solidFill>
                  <a:srgbClr val="334155"/>
                </a:solidFill>
                <a:latin typeface="Segoe UI"/>
              </a:rPr>
              <a:t>streamlit</a:t>
            </a:r>
            <a:r>
              <a:rPr sz="1400" dirty="0">
                <a:solidFill>
                  <a:srgbClr val="334155"/>
                </a:solidFill>
                <a:latin typeface="Segoe UI"/>
              </a:rPr>
              <a:t> run web_app/app.py for immediate interactive committee evaluation.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MID-SEMESTER EVALUATION (CSPC401)</a:t>
            </a:r>
          </a:p>
          <a:p>
            <a:pPr>
              <a:defRPr sz="2100" b="1">
                <a:solidFill>
                  <a:srgbClr val="102542"/>
                </a:solidFill>
              </a:defRPr>
            </a:pPr>
            <a:r>
              <a:t>Summary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737360"/>
            <a:ext cx="9448495" cy="4297680"/>
          </a:xfrm>
          <a:prstGeom prst="roundRect">
            <a:avLst/>
          </a:prstGeom>
          <a:solidFill>
            <a:srgbClr val="102542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400"/>
              </a:spcAft>
              <a:defRPr sz="1400" b="1">
                <a:solidFill>
                  <a:srgbClr val="1E3A8A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MID-SEMESTER KEY DELIVERABLES SUMMARY</a:t>
            </a:r>
          </a:p>
          <a:p>
            <a:pPr>
              <a:spcBef>
                <a:spcPts val="800"/>
              </a:spcBef>
            </a:pPr>
            <a:r>
              <a:rPr sz="1100" b="1" dirty="0">
                <a:solidFill>
                  <a:schemeClr val="bg1"/>
                </a:solidFill>
                <a:latin typeface="Segoe UI"/>
              </a:rPr>
              <a:t>✔  Lightweight Dual-Branch Deep CNN: </a:t>
            </a:r>
            <a:r>
              <a:rPr sz="1100" dirty="0">
                <a:solidFill>
                  <a:schemeClr val="bg1"/>
                </a:solidFill>
                <a:latin typeface="Segoe UI"/>
              </a:rPr>
              <a:t>Engineered UAV-</a:t>
            </a:r>
            <a:r>
              <a:rPr sz="1100" dirty="0" err="1">
                <a:solidFill>
                  <a:schemeClr val="bg1"/>
                </a:solidFill>
                <a:latin typeface="Segoe UI"/>
              </a:rPr>
              <a:t>SoilHealthNet</a:t>
            </a:r>
            <a:r>
              <a:rPr sz="1100" dirty="0">
                <a:solidFill>
                  <a:schemeClr val="bg1"/>
                </a:solidFill>
                <a:latin typeface="Segoe UI"/>
              </a:rPr>
              <a:t> fusing MobileNetV3 + CBAM attention with 60 Handcrafted Agronomic Features in a compact 14.3 MB footprint (~99% smaller than base paper's 1.4 GB ensemble).</a:t>
            </a:r>
          </a:p>
          <a:p>
            <a:pPr>
              <a:spcBef>
                <a:spcPts val="800"/>
              </a:spcBef>
            </a:pPr>
            <a:r>
              <a:rPr sz="1100" b="1" dirty="0">
                <a:solidFill>
                  <a:schemeClr val="bg1"/>
                </a:solidFill>
                <a:latin typeface="Segoe UI"/>
              </a:rPr>
              <a:t>✔  Multi-Task Soil &amp; Health Diagnosis: </a:t>
            </a:r>
            <a:r>
              <a:rPr sz="1100" dirty="0">
                <a:solidFill>
                  <a:schemeClr val="bg1"/>
                </a:solidFill>
                <a:latin typeface="Segoe UI"/>
              </a:rPr>
              <a:t>Simultaneously classifies Soil Type across 7 Major Indian Soil Classes and estimates continuous 0–100 Soil Health Index (SHI) based on observable physical surface clods.</a:t>
            </a:r>
          </a:p>
          <a:p>
            <a:pPr>
              <a:spcBef>
                <a:spcPts val="800"/>
              </a:spcBef>
            </a:pPr>
            <a:r>
              <a:rPr sz="1100" b="1" dirty="0">
                <a:solidFill>
                  <a:schemeClr val="bg1"/>
                </a:solidFill>
                <a:latin typeface="Segoe UI"/>
              </a:rPr>
              <a:t>✔  Noise Invariance &amp; Physical Grounding: </a:t>
            </a:r>
            <a:r>
              <a:rPr sz="1100" dirty="0">
                <a:solidFill>
                  <a:schemeClr val="bg1"/>
                </a:solidFill>
                <a:latin typeface="Segoe UI"/>
              </a:rPr>
              <a:t>The 60 handcrafted features (GLCM </a:t>
            </a:r>
            <a:r>
              <a:rPr sz="1100" dirty="0" err="1">
                <a:solidFill>
                  <a:schemeClr val="bg1"/>
                </a:solidFill>
                <a:latin typeface="Segoe UI"/>
              </a:rPr>
              <a:t>Haralick</a:t>
            </a:r>
            <a:r>
              <a:rPr sz="1100" dirty="0">
                <a:solidFill>
                  <a:schemeClr val="bg1"/>
                </a:solidFill>
                <a:latin typeface="Segoe UI"/>
              </a:rPr>
              <a:t>, LBP, and multi-space color moments) provide mathematical stability against field shadows and lighting shifts.</a:t>
            </a:r>
          </a:p>
          <a:p>
            <a:pPr>
              <a:spcBef>
                <a:spcPts val="800"/>
              </a:spcBef>
            </a:pPr>
            <a:r>
              <a:rPr sz="1100" b="1" dirty="0">
                <a:solidFill>
                  <a:schemeClr val="bg1"/>
                </a:solidFill>
                <a:latin typeface="Segoe UI"/>
              </a:rPr>
              <a:t>✔  Explainable AI (Grad-CAM): </a:t>
            </a:r>
            <a:r>
              <a:rPr sz="1100" dirty="0">
                <a:solidFill>
                  <a:schemeClr val="bg1"/>
                </a:solidFill>
                <a:latin typeface="Segoe UI"/>
              </a:rPr>
              <a:t>Integrated visual attention </a:t>
            </a:r>
            <a:r>
              <a:rPr sz="1100" dirty="0" err="1">
                <a:solidFill>
                  <a:schemeClr val="bg1"/>
                </a:solidFill>
                <a:latin typeface="Segoe UI"/>
              </a:rPr>
              <a:t>heatmaps</a:t>
            </a:r>
            <a:r>
              <a:rPr sz="1100" dirty="0">
                <a:solidFill>
                  <a:schemeClr val="bg1"/>
                </a:solidFill>
                <a:latin typeface="Segoe UI"/>
              </a:rPr>
              <a:t> that verify classification activations correlate with actual physical soil aggregates rather than background noise.</a:t>
            </a:r>
          </a:p>
          <a:p>
            <a:pPr>
              <a:spcBef>
                <a:spcPts val="800"/>
              </a:spcBef>
            </a:pPr>
            <a:r>
              <a:rPr sz="1100" b="1" dirty="0">
                <a:solidFill>
                  <a:schemeClr val="bg1"/>
                </a:solidFill>
                <a:latin typeface="Segoe UI"/>
              </a:rPr>
              <a:t>✔  Operational </a:t>
            </a:r>
            <a:r>
              <a:rPr sz="1100" b="1" dirty="0" err="1">
                <a:solidFill>
                  <a:schemeClr val="bg1"/>
                </a:solidFill>
                <a:latin typeface="Segoe UI"/>
              </a:rPr>
              <a:t>Streamlit</a:t>
            </a:r>
            <a:r>
              <a:rPr sz="1100" b="1" dirty="0">
                <a:solidFill>
                  <a:schemeClr val="bg1"/>
                </a:solidFill>
                <a:latin typeface="Segoe UI"/>
              </a:rPr>
              <a:t> Diagnostic Console: </a:t>
            </a:r>
            <a:r>
              <a:rPr sz="1100" dirty="0">
                <a:solidFill>
                  <a:schemeClr val="bg1"/>
                </a:solidFill>
                <a:latin typeface="Segoe UI"/>
              </a:rPr>
              <a:t>Deployed a live, interactive web application with one-click ICAR/CCS HAU </a:t>
            </a:r>
            <a:r>
              <a:rPr sz="1100" dirty="0" err="1">
                <a:solidFill>
                  <a:schemeClr val="bg1"/>
                </a:solidFill>
                <a:latin typeface="Segoe UI"/>
              </a:rPr>
              <a:t>Hisar</a:t>
            </a:r>
            <a:r>
              <a:rPr sz="1100" dirty="0">
                <a:solidFill>
                  <a:schemeClr val="bg1"/>
                </a:solidFill>
                <a:latin typeface="Segoe UI"/>
              </a:rPr>
              <a:t> farmer prescription cards (Haryana cultivars, bio-decomposer stubble spray, and green manuring).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Aft>
                <a:spcPts val="2000"/>
              </a:spcAft>
              <a:defRPr sz="2200">
                <a:solidFill>
                  <a:srgbClr val="D4AF37"/>
                </a:solidFill>
              </a:defRPr>
            </a:pPr>
            <a:r>
              <a:t>Questions &amp; Technical Discussion</a:t>
            </a:r>
          </a:p>
          <a:p>
            <a:pPr algn="ctr">
              <a:defRPr sz="1300">
                <a:solidFill>
                  <a:srgbClr val="B4CDEB"/>
                </a:solidFill>
              </a:defRPr>
            </a:pPr>
            <a:r>
              <a:t>Department of Computer Engineering | National Institute of Technology Kurukshetra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1719</Words>
  <Application>Microsoft Office PowerPoint</Application>
  <PresentationFormat>Widescreen</PresentationFormat>
  <Paragraphs>156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GAMING</dc:creator>
  <cp:keywords/>
  <dc:description>generated using python-pptx</dc:description>
  <cp:lastModifiedBy>GAMING</cp:lastModifiedBy>
  <cp:revision>2</cp:revision>
  <dcterms:created xsi:type="dcterms:W3CDTF">2013-01-27T09:14:16Z</dcterms:created>
  <dcterms:modified xsi:type="dcterms:W3CDTF">2026-10-26T17:46:07Z</dcterms:modified>
  <cp:category/>
</cp:coreProperties>
</file>