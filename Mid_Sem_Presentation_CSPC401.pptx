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7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4AF37"/>
                </a:solidFill>
              </a:defRPr>
            </a:pPr>
            <a:r>
              <a:t>NATIONAL INSTITUTE OF TECHNOLOGY KURUKSHETRA</a:t>
            </a:r>
            <a:br/>
            <a:r>
              <a:t>DEPARTMENT OF COMPUTER ENGINEERING</a:t>
            </a:r>
          </a:p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</a:defRPr>
            </a:pPr>
            <a:r>
              <a:t>Soil Health Monitoring with UAV Imaging using Machine Learning for Sustainable Farming</a:t>
            </a:r>
          </a:p>
          <a:p>
            <a:pPr>
              <a:defRPr sz="1400">
                <a:solidFill>
                  <a:srgbClr val="B4CDEB"/>
                </a:solidFill>
              </a:defRPr>
            </a:pPr>
            <a:r>
              <a:t>SwaYaan Proof-of-Concept Project (C-DAC Hyderabad / MeitY) | Course Code: CSPC401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966960" cy="2194560"/>
          </a:xfrm>
          <a:prstGeom prst="roundRect">
            <a:avLst/>
          </a:prstGeom>
          <a:solidFill>
            <a:srgbClr val="183050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050" b="1">
                <a:solidFill>
                  <a:srgbClr val="1E824C"/>
                </a:solidFill>
              </a:defRPr>
            </a:pPr>
            <a:r>
              <a:t>PRESENTED BY: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Naveen (Roll No: 123102131, Section CS-B4)</a:t>
            </a:r>
            <a:br/>
            <a:r>
              <a:t>• Nakul Goutam (Roll No: 123102123, Section CS-B4)</a:t>
            </a:r>
          </a:p>
          <a:p>
            <a:pPr>
              <a:defRPr sz="1050" b="1">
                <a:solidFill>
                  <a:srgbClr val="1E824C"/>
                </a:solidFill>
              </a:defRPr>
            </a:pPr>
            <a:r>
              <a:t>PROJECT SUPERVISORS: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Dr. Ritu Garg, Associate Professor (Principal Investigator)</a:t>
            </a:r>
            <a:br/>
            <a:r>
              <a:t>• Dr. Amandeep Kaur, Assistant Professor (Co-PI)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Presentation Outline &amp;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6420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50">
                <a:solidFill>
                  <a:srgbClr val="102542"/>
                </a:solidFill>
              </a:defRPr>
            </a:pPr>
            <a:r>
              <a:t>Problem Identification &amp; Regional Agricultural Context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Challenges in manual soil testing and Kurukshetra/Haryana Alluvial belt degradation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7919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2432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50">
                <a:solidFill>
                  <a:srgbClr val="102542"/>
                </a:solidFill>
              </a:defRPr>
            </a:pPr>
            <a:r>
              <a:t>Literature Review &amp; Research Gap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Critique of base paper (Elsevier EAAI 2025 (Sheth et al.)) and justification of our novel dual-branch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8444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50">
                <a:solidFill>
                  <a:srgbClr val="102542"/>
                </a:solidFill>
              </a:defRPr>
            </a:pPr>
            <a:r>
              <a:t>System Architecture: UAV-SoilHealthNet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Cross-modal fusion of MobileNetV3 + CBAM Attention with 60 Handcrafted Agronomic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59943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54456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50">
                <a:solidFill>
                  <a:srgbClr val="102542"/>
                </a:solidFill>
              </a:defRPr>
            </a:pPr>
            <a:r>
              <a:t>Progress Achieved: Multi-Task Benchmarking &amp; XAI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Multi-task evaluation (Soil Type, Health Status, SHI Index), Grad-CAM heatmaps &amp;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55955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50468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50">
                <a:solidFill>
                  <a:srgbClr val="102542"/>
                </a:solidFill>
              </a:defRPr>
            </a:pPr>
            <a:r>
              <a:t>Decision Support: Live Diagnostic Console &amp; ICAR Advisory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Operational live Streamlit diagnostic console, Grad-CAM visual overlays, and ICAR farmer prescription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1. Problem Identification: Soil Health &amp; Regional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DF6F6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200" b="1">
                <a:solidFill>
                  <a:srgbClr val="BE2828"/>
                </a:solidFill>
              </a:defRPr>
            </a:pPr>
            <a:r>
              <a:t>LIMITATIONS OF TRADITIONAL TESTING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• Point-Sparse Sampling: </a:t>
            </a:r>
            <a:r>
              <a:rPr sz="1050">
                <a:solidFill>
                  <a:srgbClr val="212529"/>
                </a:solidFill>
              </a:rPr>
              <a:t>In a 20-acre parcel, only 5-10 point samples are taken. Micro-spatial variances between sampling points are completely lost.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• High Time Latency: </a:t>
            </a:r>
            <a:r>
              <a:rPr sz="1050">
                <a:solidFill>
                  <a:srgbClr val="212529"/>
                </a:solidFill>
              </a:rPr>
              <a:t>Wet-chemistry laboratory assays take 10-20 days. Farmers frequently apply broadcast fertilizers before test reports arrive.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• High Recurring Costs: </a:t>
            </a:r>
            <a:r>
              <a:rPr sz="1050">
                <a:solidFill>
                  <a:srgbClr val="212529"/>
                </a:solidFill>
              </a:rPr>
              <a:t>Testing costs ₹300-₹800/sample, hindering frequent seasonal soil health tracking for smallholders.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• No Continuous Spatial Maps: </a:t>
            </a:r>
            <a:r>
              <a:rPr sz="1050">
                <a:solidFill>
                  <a:srgbClr val="212529"/>
                </a:solidFill>
              </a:rPr>
              <a:t>Outputs are tabular numbers, unable to feed modern Variable Rate Application (VRA) precision sprayers.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120640" cy="4663440"/>
          </a:xfrm>
          <a:prstGeom prst="roundRect">
            <a:avLst/>
          </a:prstGeom>
          <a:solidFill>
            <a:srgbClr val="F5FCF8"/>
          </a:solidFill>
          <a:ln>
            <a:solidFill>
              <a:srgbClr val="A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200" b="1">
                <a:solidFill>
                  <a:srgbClr val="1E824C"/>
                </a:solidFill>
              </a:defRPr>
            </a:pPr>
            <a:r>
              <a:t>REGIONAL KURUKSHETRA REALITY &amp; UAV FIT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✔ Indo-Gangetic Alluvial Belt: </a:t>
            </a:r>
            <a:r>
              <a:rPr sz="1050">
                <a:solidFill>
                  <a:srgbClr val="212529"/>
                </a:solidFill>
              </a:rPr>
              <a:t>Kurukshetra and Haryana have naturally fertile alluvial soil, but suffer from intensive Rice-Wheat monoculture degradation.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✔ Emerging Degradation Zones: </a:t>
            </a:r>
            <a:r>
              <a:rPr sz="1050">
                <a:solidFill>
                  <a:srgbClr val="212529"/>
                </a:solidFill>
              </a:rPr>
              <a:t>Excessive tube-well irrigation causes localized sodic/saline crusts, soil compaction, and organic carbon depletion.</a:t>
            </a:r>
          </a:p>
          <a:p>
            <a:pPr>
              <a:spcAft>
                <a:spcPts val="800"/>
              </a:spcAft>
            </a:pPr>
            <a:r>
              <a:t>✔ Low-Altitude UAV Advantage: Drones flying at 15-30m AGL capture high-resolution bare-soil aerial imagery with sub-centimeter GSD before sowing.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2542"/>
                </a:solidFill>
              </a:rPr>
              <a:t>✔ Physical Visual Proxies: </a:t>
            </a:r>
            <a:r>
              <a:rPr sz="1050">
                <a:solidFill>
                  <a:srgbClr val="212529"/>
                </a:solidFill>
              </a:rPr>
              <a:t>Soil surface crusting, crack density, structural roughness, and organic darkness proxies can be detected without unscientific claims of reading NPK from RGB pixels.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1. Project Objectives (Aligned with SwaYaan PoC)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1907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Objective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45920"/>
            <a:ext cx="8778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1E824C"/>
                </a:solidFill>
              </a:defRPr>
            </a:pPr>
            <a:r>
              <a:t>Autonomous UAV Data Acquisition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Deploy low-altitude UAV imaging (15-30m AGL, 75-80% overlap) over agricultural plots to capture high-resolution visual surface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7919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Objective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06040"/>
            <a:ext cx="8778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1E824C"/>
                </a:solidFill>
              </a:defRPr>
            </a:pPr>
            <a:r>
              <a:t>Agronomic Feature Extraction Pipeline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Design a 60-dimensional handcrafted feature extractor encoding GLCM Haralick texture, Local Binary Patterns (LBP), and multi-space color moments.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3931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Objective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66160"/>
            <a:ext cx="8778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1E824C"/>
                </a:solidFill>
              </a:defRPr>
            </a:pPr>
            <a:r>
              <a:t>Multi-Task Deep Learning Modeling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Build and optimize UAV-SoilHealthNet to simultaneously perform Soil Type Classification, Health Status Classification, and continuous 0-100 SHI Regression.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59943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Objective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26280"/>
            <a:ext cx="8778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1E824C"/>
                </a:solidFill>
              </a:defRPr>
            </a:pPr>
            <a:r>
              <a:t>Explainable AI &amp; Visual Verification (Grad-CAM)</a:t>
            </a:r>
            <a:br/>
            <a:r>
              <a:t>Integrate gradient-weighted class activation mapping (Grad-CAM) to inspect attention on soil clods and validate deep vision predictions.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Explainable AI &amp; Visual Verification (Grad-CAM)</a:t>
            </a:r>
            <a:br/>
            <a:r>
              <a:t>Integrate gradient-weighted class activation mapping (Grad-CAM) to inspect attention on soil clods and validate deep vision predictions.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55955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Objective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486400"/>
            <a:ext cx="8778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1E824C"/>
                </a:solidFill>
              </a:defRPr>
            </a:pPr>
            <a:r>
              <a:t>Farmer-Oriented Decision Support (ICAR Guidelines)</a:t>
            </a:r>
            <a:br/>
            <a:r>
              <a:t>Translate classified soil and degradation status into actionable, ICAR &amp; CCS HAU Hisar compliant prescription cards and a live diagnostic console.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Translate classified soil zones into actionable, ICAR &amp; CCS HAU Hisar compliant prescription cards (crop suitability, fertilizer NPK ratios, irrigation scheduling).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2. Literature Review &amp; Novelty over Prior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Elsevier EAAI (2025) Base Paper (Sheth et al.)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Proposed Framework: UAV-SoilHealthNet (NIT KKR)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Imaging Platform &amp; Operational Scale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Close-up handheld smartphone camera photos (~30 cm) &amp; Google scraped images; evaluates only tiny point soil patches.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Autonomous low-altitude UAV Drone Imagery (15–30m AGL, GSD: 0.8 cm/px); scans entire 10–50 acre agricultural plots.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Model Architecture &amp; Edge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Massive 350M+ parameter ensemble (ViT-L/16 + EffNetV2-Large + ResNet152, &gt;1.4 GB memory); requires cloud desktop RTX 3080 Ti GPU.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Lightweight Dual-Branch UAV-SoilHealthNet (14.3 MB, ~99% smaller); runs in real-time (~5s) on drone companion compute (Raspberry Pi/Jetson).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Feature Representation &amp; Noise Immunity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Pure black-box RGB pixels; vulnerable to lighting shifts, cast shadows, weed foliage, and CycleGAN artifacts (e.g. 34-38% conf).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Cross-Modal Fusion: Deep CNN Attention + 60 Handcrafted Agronomic Descriptors (GLCM Haralick, LBP, Color Moments); immune to background noise.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Soil Chemistry &amp; Diagnostic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Single-task classification only (soil name); requires farmers to manually type N-P-K &amp; pH into phone text boxes (no optical estimation).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Multi-Task Joint Heads: Predicts Soil Type + Degradation Health Status + continuous 0–100 Soil Health Index (SHI) from optical physical proxies.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Explainability &amp; Agricultural Advisory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 Black-box (no XAI); generic text crop list ('Rice', 'Wheat') from 270 fuzzy rules; no visual verification.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Integrated Grad-CAM Visual Heatmaps + ICAR &amp; CCS HAU Hisar Actionable Prescription Cards (Cultivars, Bio-Decomposer, Green Manuring).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3. System Architecture: UAV-SoilHealthNet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BRANCH 1: DEEP VISION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MobileNetV3 Backbone + CBAM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456432" cy="3657600"/>
          </a:xfrm>
          <a:prstGeom prst="rect">
            <a:avLst/>
          </a:prstGeom>
          <a:noFill/>
        </p:spPr>
        <p:txBody>
          <a:bodyPr wrap="square" lIns="228600" rIns="228600" tIns="13716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t>• Lightweight depthwise-separable convolutional backbone.</a:t>
            </a:r>
            <a:br/>
            <a:r>
              <a:t>• Convolutional Block Attention Module (CBAM) applies spatial and channel attention to focus on soil crusts and texture gradients.</a:t>
            </a:r>
            <a:br/>
            <a:r>
              <a:t>• Produces 256-D Deep Latent Feature Vector.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BRANCH 2: DOMAIN FEATURES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60 Handcrafted Agronomic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468880"/>
            <a:ext cx="3456432" cy="3657600"/>
          </a:xfrm>
          <a:prstGeom prst="rect">
            <a:avLst/>
          </a:prstGeom>
          <a:noFill/>
        </p:spPr>
        <p:txBody>
          <a:bodyPr wrap="square" lIns="228600" rIns="228600" tIns="13716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t>• GLCM Haralick Textures (contrast, dissimilarity, homogeneity, energy, correlation).</a:t>
            </a:r>
            <a:br/>
            <a:r>
              <a:t>• Local Binary Patterns (LBP) for micro-granularity.</a:t>
            </a:r>
            <a:br/>
            <a:r>
              <a:t>• Color moments in RGB, HSV, and Lab color spaces.</a:t>
            </a:r>
            <a:br/>
            <a:r>
              <a:t>• Soil Organic Matter (SOM) optical darkness proxy.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CROSS-MODAL FUSION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Multi-Task Joint Optimization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2468880"/>
            <a:ext cx="3456432" cy="3657600"/>
          </a:xfrm>
          <a:prstGeom prst="rect">
            <a:avLst/>
          </a:prstGeom>
          <a:noFill/>
        </p:spPr>
        <p:txBody>
          <a:bodyPr wrap="square" lIns="228600" rIns="228600" tIns="13716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t>• Feature fusion layer concatenates Deep + Domain features.</a:t>
            </a:r>
            <a:br/>
            <a:r>
              <a:t>• Head 1: Soil Type Classification (7 Indian Types (Alluvial, Arid, Black, Laterite, Mountain, Red, Yellow)).</a:t>
            </a:r>
            <a:br/>
            <a:r>
              <a:t>• Head 2: Soil Health Status (Healthy, Moderate, Degraded).</a:t>
            </a:r>
            <a:br/>
            <a:r>
              <a:t>• Head 3: Continuous Soil Health Index (0-100 SHI).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Comparative Model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97280"/>
              </a:tblGrid>
              <a:tr h="627017">
                <a:tc>
                  <a:txBody>
                    <a:bodyPr/>
                    <a:lstStyle/>
                    <a:p>
                      <a:r>
                        <a:t>Model Evaluated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Evaluation Status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Baseline MobileNetV2 (Base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Baseline SoilCNN (2025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Random Forest (Baseline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Support Vector Machine (SVM)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t>PROPOSED: UAV-SoilHealthNet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80.56%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Proposed Dual-Branch Model ★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rative_model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Multi-Task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m_proposed_uav-soilhealthnet_soi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120640" cy="4389120"/>
          </a:xfrm>
          <a:prstGeom prst="rect">
            <a:avLst/>
          </a:prstGeom>
        </p:spPr>
      </p:pic>
      <p:pic>
        <p:nvPicPr>
          <p:cNvPr id="5" name="Picture 4" descr="cm_proposed_uav-soilhealthnet_health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212080" cy="4467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Explainable AI with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ickstart_grad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6583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00200"/>
            <a:ext cx="3840480" cy="4663440"/>
          </a:xfrm>
          <a:prstGeom prst="roundRect">
            <a:avLst/>
          </a:prstGeom>
          <a:solidFill>
            <a:srgbClr val="F8F9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b="1" sz="1200">
                <a:solidFill>
                  <a:srgbClr val="102542"/>
                </a:solidFill>
              </a:defRPr>
            </a:pPr>
            <a:r>
              <a:t>WHY EXPLAINABILITY MATTERS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824C"/>
                </a:solidFill>
              </a:rPr>
              <a:t>✔ Transparent Decision-Making: </a:t>
            </a:r>
            <a:r>
              <a:rPr sz="1050">
                <a:solidFill>
                  <a:srgbClr val="212529"/>
                </a:solidFill>
              </a:rPr>
              <a:t>Agricultural stakeholders and agronomists distrust black-box deep learning. Grad-CAM visualizes what the network 'looks at'.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824C"/>
                </a:solidFill>
              </a:rPr>
              <a:t>✔ Physical Aggregate Detection: </a:t>
            </a:r>
            <a:r>
              <a:rPr sz="1050">
                <a:solidFill>
                  <a:srgbClr val="212529"/>
                </a:solidFill>
              </a:rPr>
              <a:t>The attention heatmap focuses directly on surface soil clods, crusting lines, and moisture dark spots rather than image background.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824C"/>
                </a:solidFill>
              </a:rPr>
              <a:t>✔ Verification of CBAM: </a:t>
            </a:r>
            <a:r>
              <a:rPr sz="1050">
                <a:solidFill>
                  <a:srgbClr val="212529"/>
                </a:solidFill>
              </a:rPr>
              <a:t>Confirms that the Convolutional Block Attention Module correctly suppresses peripheral flight noise while elevating soil structural regions.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5. Decision Support: Live Diagnostic Web Console &amp; ICAR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5FCF8"/>
          </a:solidFill>
          <a:ln>
            <a:solidFill>
              <a:srgbClr val="A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b="1" sz="1200">
                <a:solidFill>
                  <a:srgbClr val="1E824C"/>
                </a:solidFill>
              </a:defRPr>
            </a:pPr>
            <a:r>
              <a:t>🌾 ICAR-COMPLIANT PRESCRIPTION CARD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2542"/>
                </a:solidFill>
              </a:rPr>
              <a:t>Location: </a:t>
            </a:r>
            <a:r>
              <a:rPr sz="1000">
                <a:solidFill>
                  <a:srgbClr val="212529"/>
                </a:solidFill>
              </a:rPr>
              <a:t>NIT Kurukshetra Agricultural Research Field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2542"/>
                </a:solidFill>
              </a:rPr>
              <a:t>Classified Soil: </a:t>
            </a:r>
            <a:r>
              <a:rPr sz="1000">
                <a:solidFill>
                  <a:srgbClr val="212529"/>
                </a:solidFill>
              </a:rPr>
              <a:t>Alluvial Soil (Healthy, SHI: 88.5/100)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2542"/>
                </a:solidFill>
              </a:rPr>
              <a:t>Recommended Crops: </a:t>
            </a:r>
            <a:r>
              <a:rPr sz="1000">
                <a:solidFill>
                  <a:srgbClr val="212529"/>
                </a:solidFill>
              </a:rPr>
              <a:t>Wheat (HD 3086), Paddy (Basmati), Sugarcane, Mustard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2542"/>
                </a:solidFill>
              </a:rPr>
              <a:t>Irrigation Schedule: </a:t>
            </a:r>
            <a:r>
              <a:rPr sz="1000">
                <a:solidFill>
                  <a:srgbClr val="212529"/>
                </a:solidFill>
              </a:rPr>
              <a:t>Moderate frequency (every 10-14 days), border strip / sprinkler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2542"/>
                </a:solidFill>
              </a:rPr>
              <a:t>Sustainable Actions: </a:t>
            </a:r>
            <a:r>
              <a:rPr sz="1000">
                <a:solidFill>
                  <a:srgbClr val="212529"/>
                </a:solidFill>
              </a:rPr>
              <a:t>Apply microbial bio-decomposer spray post-harvest to rapidly decompose stubble without burning; green manuring (Dhaincha).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b="1" sz="1200">
                <a:solidFill>
                  <a:srgbClr val="102542"/>
                </a:solidFill>
              </a:defRPr>
            </a:pPr>
            <a:r>
              <a:t>💻 OPERATIONAL STREAMLIT DIAGNOSTIC CONSOLE (LIVE FIELD DIAGNOSTIC DEMO)</a:t>
            </a:r>
          </a:p>
          <a:p>
            <a:pPr>
              <a:spcAft>
                <a:spcPts val="600"/>
              </a:spcAft>
            </a:pPr>
            <a:r>
              <a:t>✔ Real-Time Inference: Instant prediction of Soil Type, 3-class Degradation Status, and 0-100 SHI Score on real field photos.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824C"/>
                </a:solidFill>
              </a:rPr>
              <a:t>✔ Real-Time Grad-CAM: </a:t>
            </a:r>
            <a:r>
              <a:rPr sz="1000">
                <a:solidFill>
                  <a:srgbClr val="212529"/>
                </a:solidFill>
              </a:rPr>
              <a:t>Interactive toggle overlaying visual attention heatmaps on uploaded soil images.</a:t>
            </a:r>
          </a:p>
          <a:p>
            <a:pPr>
              <a:spcAft>
                <a:spcPts val="600"/>
              </a:spcAft>
            </a:pPr>
            <a:r>
              <a:t>✔ Automated Vegetation Removal: Built-in spectral filter eliminates weed canopy and inpaints bare soil texture before ML inference.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824C"/>
                </a:solidFill>
              </a:rPr>
              <a:t>✔ Prescription Card Export: </a:t>
            </a:r>
            <a:r>
              <a:rPr sz="1000">
                <a:solidFill>
                  <a:srgbClr val="212529"/>
                </a:solidFill>
              </a:rPr>
              <a:t>One-click generation and download of formatted farmer advisory cards.</a:t>
            </a:r>
          </a:p>
          <a:p>
            <a:pPr>
              <a:spcAft>
                <a:spcPts val="600"/>
              </a:spcAft>
            </a:pPr>
            <a:r>
              <a:t>✔ Live Evaluation Demo Ready: streamlit run web_app/app.py (Diagnostic Console operational for committee review).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48495" cy="4297680"/>
          </a:xfrm>
          <a:prstGeom prst="roundRect">
            <a:avLst/>
          </a:prstGeom>
          <a:solidFill>
            <a:srgbClr val="102542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spcAft>
                <a:spcPts val="1400"/>
              </a:spcAft>
              <a:defRPr b="1" sz="1400">
                <a:solidFill>
                  <a:srgbClr val="1E3A8A"/>
                </a:solidFill>
              </a:defRPr>
            </a:pPr>
            <a:r>
              <a:t>MID-SEMESTER KEY DELIVERABLES</a:t>
            </a:r>
          </a:p>
          <a:p>
            <a:pPr>
              <a:spcBef>
                <a:spcPts val="600"/>
              </a:spcBef>
              <a:defRPr sz="1050"/>
            </a:pPr>
            <a:r>
              <a:rPr b="1">
                <a:solidFill>
                  <a:srgbClr val="0F172A"/>
                </a:solidFill>
              </a:rPr>
              <a:t>✔  Lightweight Dual-Branch Deep CNN: </a:t>
            </a:r>
            <a:r>
              <a:rPr>
                <a:solidFill>
                  <a:srgbClr val="334155"/>
                </a:solidFill>
              </a:rPr>
              <a:t>Engineered UAV-SoilHealthNet fusing MobileNetV3 + CBAM attention with 60 Handcrafted Agronomic Features in a compact 14.3 MB footprint (~99% smaller than base paper's 1.4 GB ensemble).</a:t>
            </a:r>
          </a:p>
          <a:p>
            <a:pPr>
              <a:spcBef>
                <a:spcPts val="600"/>
              </a:spcBef>
              <a:defRPr sz="1050"/>
            </a:pPr>
            <a:r>
              <a:rPr b="1">
                <a:solidFill>
                  <a:srgbClr val="0F172A"/>
                </a:solidFill>
              </a:rPr>
              <a:t>✔  Multi-Task Soil &amp; Health Diagnosis: </a:t>
            </a:r>
            <a:r>
              <a:rPr>
                <a:solidFill>
                  <a:srgbClr val="334155"/>
                </a:solidFill>
              </a:rPr>
              <a:t>Simultaneously classifies Soil Type across 7 Major Indian Soil Classes and estimates continuous 0–100 Soil Health Index (SHI) based on observable physical surface clods.</a:t>
            </a:r>
          </a:p>
          <a:p>
            <a:pPr>
              <a:spcBef>
                <a:spcPts val="600"/>
              </a:spcBef>
              <a:defRPr sz="1050"/>
            </a:pPr>
            <a:r>
              <a:rPr b="1">
                <a:solidFill>
                  <a:srgbClr val="0F172A"/>
                </a:solidFill>
              </a:rPr>
              <a:t>✔  Noise Invariance &amp; Physical Grounding: </a:t>
            </a:r>
            <a:r>
              <a:rPr>
                <a:solidFill>
                  <a:srgbClr val="334155"/>
                </a:solidFill>
              </a:rPr>
              <a:t>The 60 handcrafted features (GLCM Haralick, LBP, and multi-space color moments) provide mathematical stability against field shadows and lighting shifts.</a:t>
            </a:r>
          </a:p>
          <a:p>
            <a:pPr>
              <a:spcBef>
                <a:spcPts val="600"/>
              </a:spcBef>
              <a:defRPr sz="1050"/>
            </a:pPr>
            <a:r>
              <a:rPr b="1">
                <a:solidFill>
                  <a:srgbClr val="0F172A"/>
                </a:solidFill>
              </a:rPr>
              <a:t>✔  Explainable AI (Grad-CAM): </a:t>
            </a:r>
            <a:r>
              <a:rPr>
                <a:solidFill>
                  <a:srgbClr val="334155"/>
                </a:solidFill>
              </a:rPr>
              <a:t>Integrated visual attention heatmaps that verify classification activations correlate with actual physical soil aggregates rather than background noise.</a:t>
            </a:r>
          </a:p>
          <a:p>
            <a:pPr>
              <a:spcBef>
                <a:spcPts val="600"/>
              </a:spcBef>
              <a:defRPr sz="1050"/>
            </a:pPr>
            <a:r>
              <a:rPr b="1">
                <a:solidFill>
                  <a:srgbClr val="0F172A"/>
                </a:solidFill>
              </a:rPr>
              <a:t>✔  Operational Streamlit Diagnostic Console: </a:t>
            </a:r>
            <a:r>
              <a:rPr>
                <a:solidFill>
                  <a:srgbClr val="334155"/>
                </a:solidFill>
              </a:rPr>
              <a:t>Deployed a live, interactive web application with one-click ICAR/CCS HAU Hisar farmer prescription cards (Haryana cultivars, bio-decomposer stubble spray, and green manuring).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b="1" sz="4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200">
                <a:solidFill>
                  <a:srgbClr val="D4AF37"/>
                </a:solidFill>
              </a:defRPr>
            </a:pPr>
            <a:r>
              <a:t>Questions &amp; Technical Discussion</a:t>
            </a:r>
          </a:p>
          <a:p>
            <a:pPr algn="ctr">
              <a:defRPr sz="1300">
                <a:solidFill>
                  <a:srgbClr val="B4CDEB"/>
                </a:solidFill>
              </a:defRPr>
            </a:pPr>
            <a:r>
              <a:t>Department of Computer Engineering | National Institute of Technology Kurukshetra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