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6" r:id="rId17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7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8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058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300" b="1">
                <a:solidFill>
                  <a:srgbClr val="64748B"/>
                </a:solidFill>
                <a:latin typeface="Segoe UI"/>
              </a:defRPr>
            </a:pPr>
            <a:r>
              <a:t>NATIONAL INSTITUTE OF TECHNOLOGY KURUKSHETRA</a:t>
            </a:r>
            <a:br/>
            <a:r>
              <a:t>DEPARTMENT OF COMPUTER ENGINEERING</a:t>
            </a:r>
          </a:p>
          <a:p>
            <a:pPr algn="ctr">
              <a:spcBef>
                <a:spcPts val="1200"/>
              </a:spcBef>
              <a:defRPr sz="2100" b="1">
                <a:solidFill>
                  <a:srgbClr val="1E3A8A"/>
                </a:solidFill>
                <a:latin typeface="Segoe UI"/>
              </a:defRPr>
            </a:pPr>
            <a:r>
              <a:t>Soil Health Monitoring with UAV Imaging using Machine Learning for Sustainable Farming</a:t>
            </a:r>
          </a:p>
          <a:p>
            <a:pPr algn="ctr">
              <a:spcBef>
                <a:spcPts val="800"/>
              </a:spcBef>
              <a:defRPr sz="1100" b="1">
                <a:solidFill>
                  <a:srgbClr val="475569"/>
                </a:solidFill>
                <a:latin typeface="Segoe UI"/>
              </a:defRPr>
            </a:pPr>
            <a:r>
              <a:t>SwaYaan Proof-of-Concept Project (C-DAC Hyderabad / MeitY) | Course Code: CSPC401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114800"/>
            <a:ext cx="9966960" cy="2194560"/>
          </a:xfrm>
          <a:prstGeom prst="roundRect">
            <a:avLst/>
          </a:prstGeom>
          <a:solidFill>
            <a:srgbClr val="183050"/>
          </a:solidFill>
          <a:ln>
            <a:solidFill>
              <a:srgbClr val="32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PRESENTED BY: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Segoe UI"/>
              </a:defRPr>
            </a:pPr>
            <a:r>
              <a:t>• Naveen (Roll No: 123102131, Section CS-B4)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  <a:latin typeface="Segoe UI"/>
              </a:defRPr>
            </a:pPr>
            <a:r>
              <a:t>• Nakul Goutam (Roll No: 123102123, Section CS-B4)</a:t>
            </a:r>
          </a:p>
          <a:p>
            <a:pPr>
              <a:spcBef>
                <a:spcPts val="1000"/>
              </a:spcBef>
              <a:defRPr sz="1100" b="1">
                <a:solidFill>
                  <a:srgbClr val="1E3A8A"/>
                </a:solidFill>
                <a:latin typeface="Segoe UI"/>
              </a:defRPr>
            </a:pPr>
            <a:r>
              <a:t>PROJECT SUPERVISORS: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Segoe UI"/>
              </a:defRPr>
            </a:pPr>
            <a:r>
              <a:t>• Dr. Ritu Garg, Associate Professor (Principal Investigator)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  <a:latin typeface="Segoe UI"/>
              </a:defRPr>
            </a:pPr>
            <a:r>
              <a:t>• Dr. Amandeep Kaur, Assistant Professor (Co-PI)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Presentation Outline &amp;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71907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66420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Problem Identification &amp; Regional Agricultural Context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Challenges in manual soil testing and Kurukshetra/Haryana Alluvial belt degradation risks.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67919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62432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Literature Review &amp; Research Gap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Critique of base paper (Elsevier EAAI 2025 (Sheth et al.)) and justification of our novel dual-branch architecture.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7472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363931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58444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System Architecture: UAV-SoilHealthNet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Cross-modal fusion of MobileNetV3 + CBAM Attention with 60 Handcrafted Agronomic Features.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459943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54456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Progress Achieved: Multi-Task Benchmarking &amp; XAI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Multi-task evaluation (Soil Type, Health Status, SHI Index), Grad-CAM heatmaps &amp; comparison.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9496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555955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50468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Decision Support: Live Diagnostic Console &amp; ICAR Advisory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Operational live Streamlit diagnostic console, Grad-CAM visual overlays, and ICAR farmer prescription cards.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1. Problem Identification: Soil Health &amp; Regional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20640" cy="4663440"/>
          </a:xfrm>
          <a:prstGeom prst="roundRect">
            <a:avLst/>
          </a:prstGeom>
          <a:solidFill>
            <a:srgbClr val="FDF6F6"/>
          </a:solidFill>
          <a:ln>
            <a:solidFill>
              <a:srgbClr val="F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200" b="1">
                <a:solidFill>
                  <a:srgbClr val="BE2828"/>
                </a:solidFill>
              </a:defRPr>
            </a:pPr>
            <a:r>
              <a:t>LIMITATIONS OF TRADITIONAL TESTING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Point-Sparse Sampling: </a:t>
            </a:r>
            <a:r>
              <a:rPr sz="1050">
                <a:solidFill>
                  <a:srgbClr val="212529"/>
                </a:solidFill>
              </a:rPr>
              <a:t>In a 20-acre parcel, only 5-10 point samples are taken. Micro-spatial variances between sampling points are completely lost.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High Time Latency: </a:t>
            </a:r>
            <a:r>
              <a:rPr sz="1050">
                <a:solidFill>
                  <a:srgbClr val="212529"/>
                </a:solidFill>
              </a:rPr>
              <a:t>Wet-chemistry laboratory assays take 10-20 days. Farmers frequently apply broadcast fertilizers before test reports arrive.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High Recurring Costs: </a:t>
            </a:r>
            <a:r>
              <a:rPr sz="1050">
                <a:solidFill>
                  <a:srgbClr val="212529"/>
                </a:solidFill>
              </a:rPr>
              <a:t>Testing costs ₹300-₹800/sample, hindering frequent seasonal soil health tracking for smallholders.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No Continuous Spatial Maps: </a:t>
            </a:r>
            <a:r>
              <a:rPr sz="1050">
                <a:solidFill>
                  <a:srgbClr val="212529"/>
                </a:solidFill>
              </a:rPr>
              <a:t>Outputs are tabular numbers, unable to feed modern Variable Rate Application (VRA) precision sprayers.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120640" cy="4663440"/>
          </a:xfrm>
          <a:prstGeom prst="roundRect">
            <a:avLst/>
          </a:prstGeom>
          <a:solidFill>
            <a:srgbClr val="F5FCF8"/>
          </a:solidFill>
          <a:ln>
            <a:solidFill>
              <a:srgbClr val="AADC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200" b="1">
                <a:solidFill>
                  <a:srgbClr val="1E824C"/>
                </a:solidFill>
              </a:defRPr>
            </a:pPr>
            <a:r>
              <a:t>REGIONAL KURUKSHETRA REALITY &amp; UAV FIT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Indo-Gangetic Alluvial Belt: </a:t>
            </a:r>
            <a:r>
              <a:rPr sz="1050">
                <a:solidFill>
                  <a:srgbClr val="212529"/>
                </a:solidFill>
              </a:rPr>
              <a:t>Kurukshetra and Haryana have naturally fertile alluvial soil, but suffer from intensive Rice-Wheat monoculture degradation.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Emerging Degradation Zones: </a:t>
            </a:r>
            <a:r>
              <a:rPr sz="1050">
                <a:solidFill>
                  <a:srgbClr val="212529"/>
                </a:solidFill>
              </a:rPr>
              <a:t>Excessive tube-well irrigation causes localized sodic/saline crusts, soil compaction, and organic carbon depletion.</a:t>
            </a:r>
          </a:p>
          <a:p>
            <a:pPr>
              <a:spcAft>
                <a:spcPts val="800"/>
              </a:spcAft>
            </a:pPr>
            <a:r>
              <a:t>✔ Low-Altitude UAV Advantage: Drones flying at 15-30m AGL capture high-resolution bare-soil aerial imagery with sub-centimeter GSD before sowing.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Physical Visual Proxies: </a:t>
            </a:r>
            <a:r>
              <a:rPr sz="1050">
                <a:solidFill>
                  <a:srgbClr val="212529"/>
                </a:solidFill>
              </a:rPr>
              <a:t>Soil surface crusting, crack density, structural roughness, and organic darkness proxies can be detected without unscientific claims of reading NPK from RGB pixels.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1. Project Objectives (Aligned with SwaYaan PoC)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71907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64592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Autonomous UAV Data Acquisition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Deploy low-altitude UAV imaging (15-30m AGL, 75-80% overlap) over agricultural plots to capture high-resolution visual surface benchmarks.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7919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60604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Agronomic Feature Extraction Pipeline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Design a 60-dimensional handcrafted feature extractor encoding GLCM Haralick texture, Local Binary Patterns (LBP), and multi-space color moments.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7472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63931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56616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Multi-Task Deep Learning Modeling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Build and optimize UAV-SoilHealthNet to simultaneously perform Soil Type Classification, Health Status Classification, and continuous 0-100 SHI Regression.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59943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52628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Explainable AI &amp; Visual Verification (Grad-CAM)</a:t>
            </a:r>
            <a:br/>
            <a:r>
              <a:t>Integrate gradient-weighted class activation mapping (Grad-CAM) to inspect attention on soil clods and validate deep vision predictions.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Explainable AI &amp; Visual Verification (Grad-CAM)</a:t>
            </a:r>
            <a:br/>
            <a:r>
              <a:t>Integrate gradient-weighted class activation mapping (Grad-CAM) to inspect attention on soil clods and validate deep vision predictions.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9496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555955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548640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Farmer-Oriented Decision Support (ICAR Guidelines)</a:t>
            </a:r>
            <a:br/>
            <a:r>
              <a:t>Translate classified soil and degradation status into actionable, ICAR &amp; CCS HAU Hisar compliant prescription cards and a live diagnostic console.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Translate classified soil zones into actionable, ICAR &amp; CCS HAU Hisar compliant prescription cards (crop suitability, fertilizer NPK ratios, irrigation scheduling).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2. Literature Review &amp; Novelty over Prior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4114800"/>
                <a:gridCol w="4114800"/>
              </a:tblGrid>
              <a:tr h="7315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Feature / Dimension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Elsevier EAAI (2025) Base Paper (Sheth et al.)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Our Proposed Framework: UAV-SoilHealthNet (NIT KKR)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Imaging Platform &amp; Operational Scale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Close-up handheld smartphone camera photos (~30 cm) &amp; Google scraped images; evaluates only tiny point soil patches.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Autonomous low-altitude UAV Drone Imagery (15–30m AGL, GSD: 0.8 cm/px); scans entire 10–50 acre agricultural plots.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Model Architecture &amp; Edge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Massive 350M+ parameter ensemble (ViT-L/16 + EffNetV2-Large + ResNet152, &gt;1.4 GB memory); requires cloud desktop RTX 3080 Ti GPU.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Lightweight Dual-Branch UAV-SoilHealthNet (14.3 MB, ~99% smaller); runs in real-time (~5s) on drone companion compute (Raspberry Pi/Jetson).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Feature Representation &amp; Noise Immunity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Pure black-box RGB pixels; vulnerable to lighting shifts, cast shadows, weed foliage, and CycleGAN artifacts (e.g. 34-38% conf).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Cross-Modal Fusion: Deep CNN Attention + 60 Handcrafted Agronomic Descriptors (GLCM Haralick, LBP, Color Moments); immune to background noise.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Soil Chemistry &amp; Diagnostic 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Single-task classification only (soil name); requires farmers to manually type N-P-K &amp; pH into phone text boxes (no optical estimation).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Multi-Task Joint Heads: Predicts Soil Type + Degradation Health Status + continuous 0–100 Soil Health Index (SHI) from optical physical proxies.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Explainability &amp; Agricultural Advisory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100% Black-box (no XAI); generic text crop list ('Rice', 'Wheat') from 270 fuzzy rules; no visual verification.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Integrated Grad-CAM Visual Heatmaps + ICAR &amp; CCS HAU Hisar Actionable Prescription Cards (Cultivars, Bio-Decomposer, Green Manuring).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3. System Architecture: UAV-SoilHealthNet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456432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3456432" cy="7772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D4AF37"/>
                </a:solidFill>
              </a:defRPr>
            </a:pPr>
            <a:r>
              <a:t>BRANCH 1: DEEP VISION</a:t>
            </a:r>
          </a:p>
          <a:p>
            <a:pPr algn="ctr">
              <a:defRPr sz="950">
                <a:solidFill>
                  <a:srgbClr val="FFFFFF"/>
                </a:solidFill>
              </a:defRPr>
            </a:pPr>
            <a:r>
              <a:t>MobileNetV3 Backbone + CBAM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456432" cy="3657600"/>
          </a:xfrm>
          <a:prstGeom prst="rect">
            <a:avLst/>
          </a:prstGeom>
          <a:noFill/>
        </p:spPr>
        <p:txBody>
          <a:bodyPr wrap="square" lIns="228600" rIns="228600" tIns="137160">
            <a:spAutoFit/>
          </a:bodyPr>
          <a:lstStyle/>
          <a:p>
            <a:pPr>
              <a:defRPr sz="1050">
                <a:solidFill>
                  <a:srgbClr val="212529"/>
                </a:solidFill>
              </a:defRPr>
            </a:pPr>
            <a:r>
              <a:rPr b="1" sz="1000">
                <a:solidFill>
                  <a:srgbClr val="0F172A"/>
                </a:solidFill>
                <a:latin typeface="Segoe UI"/>
              </a:rPr>
              <a:t>• Depthwise Separable Convolutions: </a:t>
            </a:r>
            <a:r>
              <a:rPr sz="1000">
                <a:solidFill>
                  <a:srgbClr val="334155"/>
                </a:solidFill>
                <a:latin typeface="Segoe UI"/>
              </a:rPr>
              <a:t>Employs MobileNetV3-Large backbone, slashing compute latency while extracting robust multi-scale visual textures.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F172A"/>
                </a:solidFill>
                <a:latin typeface="Segoe UI"/>
              </a:rPr>
              <a:t>• CBAM Attention Module: </a:t>
            </a:r>
            <a:r>
              <a:rPr sz="1000">
                <a:solidFill>
                  <a:srgbClr val="334155"/>
                </a:solidFill>
                <a:latin typeface="Segoe UI"/>
              </a:rPr>
              <a:t>Combines Channel and Spatial attention to focus on soil surface aggregate clods and crusting while suppressing ambient background noise.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F172A"/>
                </a:solidFill>
                <a:latin typeface="Segoe UI"/>
              </a:rPr>
              <a:t>• Latent Projection: </a:t>
            </a:r>
            <a:r>
              <a:rPr sz="1000">
                <a:solidFill>
                  <a:srgbClr val="334155"/>
                </a:solidFill>
                <a:latin typeface="Segoe UI"/>
              </a:rPr>
              <a:t>Produces an optimized 256-D deep vision latent feature vector for cross-modal fusion.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600200"/>
            <a:ext cx="3456432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70832" y="1600200"/>
            <a:ext cx="3456432" cy="7772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D4AF37"/>
                </a:solidFill>
              </a:defRPr>
            </a:pPr>
            <a:r>
              <a:t>BRANCH 2: DOMAIN FEATURES</a:t>
            </a:r>
          </a:p>
          <a:p>
            <a:pPr algn="ctr">
              <a:defRPr sz="950">
                <a:solidFill>
                  <a:srgbClr val="FFFFFF"/>
                </a:solidFill>
              </a:defRPr>
            </a:pPr>
            <a:r>
              <a:t>60 Handcrafted Agronomic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2468880"/>
            <a:ext cx="3456432" cy="3657600"/>
          </a:xfrm>
          <a:prstGeom prst="rect">
            <a:avLst/>
          </a:prstGeom>
          <a:noFill/>
        </p:spPr>
        <p:txBody>
          <a:bodyPr wrap="square" lIns="228600" rIns="228600" tIns="137160">
            <a:spAutoFit/>
          </a:bodyPr>
          <a:lstStyle/>
          <a:p>
            <a:pPr>
              <a:defRPr sz="1050">
                <a:solidFill>
                  <a:srgbClr val="212529"/>
                </a:solidFill>
              </a:defRPr>
            </a:pPr>
            <a:r>
              <a:rPr b="1" sz="1000">
                <a:solidFill>
                  <a:srgbClr val="0F172A"/>
                </a:solidFill>
                <a:latin typeface="Segoe UI"/>
              </a:rPr>
              <a:t>• GLCM Haralick Textures: </a:t>
            </a:r>
            <a:r>
              <a:rPr sz="1000">
                <a:solidFill>
                  <a:srgbClr val="334155"/>
                </a:solidFill>
                <a:latin typeface="Segoe UI"/>
              </a:rPr>
              <a:t>Extracts surface contrast, dissimilarity, homogeneity, energy, and correlation across 4 directional angles (0°, 45°, 90°, 135°).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F172A"/>
                </a:solidFill>
                <a:latin typeface="Segoe UI"/>
              </a:rPr>
              <a:t>• Local Binary Patterns (LBP): </a:t>
            </a:r>
            <a:r>
              <a:rPr sz="1000">
                <a:solidFill>
                  <a:srgbClr val="334155"/>
                </a:solidFill>
                <a:latin typeface="Segoe UI"/>
              </a:rPr>
              <a:t>Encodes micro-granularity, surface roughness, and fine clod size variance across 10 histogram bins.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F172A"/>
                </a:solidFill>
                <a:latin typeface="Segoe UI"/>
              </a:rPr>
              <a:t>• Multi-Color-Space Moments: </a:t>
            </a:r>
            <a:r>
              <a:rPr sz="1000">
                <a:solidFill>
                  <a:srgbClr val="334155"/>
                </a:solidFill>
                <a:latin typeface="Segoe UI"/>
              </a:rPr>
              <a:t>Computes statistical moments across RGB, HSV, and CIE Lab channels to capture Soil Organic Matter (SOM) darkness proxies.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00200"/>
            <a:ext cx="3456432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10144" y="1600200"/>
            <a:ext cx="3456432" cy="7772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D4AF37"/>
                </a:solidFill>
              </a:defRPr>
            </a:pPr>
            <a:r>
              <a:t>CROSS-MODAL FUSION</a:t>
            </a:r>
          </a:p>
          <a:p>
            <a:pPr algn="ctr">
              <a:defRPr sz="950">
                <a:solidFill>
                  <a:srgbClr val="FFFFFF"/>
                </a:solidFill>
              </a:defRPr>
            </a:pPr>
            <a:r>
              <a:t>Multi-Task Joint Optimization 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2468880"/>
            <a:ext cx="3456432" cy="3657600"/>
          </a:xfrm>
          <a:prstGeom prst="rect">
            <a:avLst/>
          </a:prstGeom>
          <a:noFill/>
        </p:spPr>
        <p:txBody>
          <a:bodyPr wrap="square" lIns="228600" rIns="228600" tIns="137160">
            <a:spAutoFit/>
          </a:bodyPr>
          <a:lstStyle/>
          <a:p>
            <a:pPr>
              <a:defRPr sz="1050">
                <a:solidFill>
                  <a:srgbClr val="212529"/>
                </a:solidFill>
              </a:defRPr>
            </a:pPr>
            <a:r>
              <a:rPr b="1" sz="1000">
                <a:solidFill>
                  <a:srgbClr val="0F172A"/>
                </a:solidFill>
                <a:latin typeface="Segoe UI"/>
              </a:rPr>
              <a:t>• Cross-Modal Fusion: </a:t>
            </a:r>
            <a:r>
              <a:rPr sz="1000">
                <a:solidFill>
                  <a:srgbClr val="334155"/>
                </a:solidFill>
                <a:latin typeface="Segoe UI"/>
              </a:rPr>
              <a:t>Concatenates 256-D deep vision features with projected 64-D domain features via BatchNorm and Dropout (0.3).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F172A"/>
                </a:solidFill>
                <a:latin typeface="Segoe UI"/>
              </a:rPr>
              <a:t>• Head 1 (Soil Classification): </a:t>
            </a:r>
            <a:r>
              <a:rPr sz="1000">
                <a:solidFill>
                  <a:srgbClr val="334155"/>
                </a:solidFill>
                <a:latin typeface="Segoe UI"/>
              </a:rPr>
              <a:t>Predicts across 7 Major Indian Soil Types (Alluvial, Arid, Black, Laterite, Mountain, Red, Yellow Soil).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F172A"/>
                </a:solidFill>
                <a:latin typeface="Segoe UI"/>
              </a:rPr>
              <a:t>• Head 2 &amp; 3 (Health Diagnosis): </a:t>
            </a:r>
            <a:r>
              <a:rPr sz="1000">
                <a:solidFill>
                  <a:srgbClr val="334155"/>
                </a:solidFill>
                <a:latin typeface="Segoe UI"/>
              </a:rPr>
              <a:t>Jointly predicts 3-class Degradation Status (Healthy, Moderate, Degraded) and continuous 0–100 Soil Health Index (SHI).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Comparative Model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00200"/>
          <a:ext cx="51206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05840"/>
                <a:gridCol w="1005840"/>
                <a:gridCol w="1097280"/>
              </a:tblGrid>
              <a:tr h="627017">
                <a:tc>
                  <a:txBody>
                    <a:bodyPr/>
                    <a:lstStyle/>
                    <a:p>
                      <a:r>
                        <a:t>Model Evaluated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Test Accuracy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F1 Score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Evaluation Status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Baseline MobileNetV2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75.29%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Baseline SoilCNN (2025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78.71%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80.20%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Random Forest (Baseline 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Support Vector Machine (SVM)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86.40%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r>
                        <a:t>PROPOSED: UAV-SoilHealthNet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80.56%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0.741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Proposed Dual-Branch Model ★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omparative_model_benchmar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303520" cy="31821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4892040"/>
            <a:ext cx="5303520" cy="10972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950">
                <a:solidFill>
                  <a:srgbClr val="1E3A8A"/>
                </a:solidFill>
                <a:latin typeface="Segoe UI"/>
              </a:rPr>
              <a:t>✔ Edge Efficiency: </a:t>
            </a:r>
            <a:r>
              <a:rPr sz="950">
                <a:solidFill>
                  <a:srgbClr val="334155"/>
                </a:solidFill>
                <a:latin typeface="Segoe UI"/>
              </a:rPr>
              <a:t>UAV-SoilHealthNet achieves 80.56% multi-task accuracy in only 14.3 MB (~99% smaller than base paper), outperforming baseline MobileNetV2 (75.29%).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166534"/>
                </a:solidFill>
                <a:latin typeface="Segoe UI"/>
              </a:rPr>
              <a:t>✔ Noise Invariance: </a:t>
            </a:r>
            <a:r>
              <a:rPr sz="950">
                <a:solidFill>
                  <a:srgbClr val="334155"/>
                </a:solidFill>
                <a:latin typeface="Segoe UI"/>
              </a:rPr>
              <a:t>The 60 handcrafted features maintain mathematical stability on authentic Indian field soils without requiring a 1.4 GB cloud GPU ensemble.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Multi-Task Confusion Matrices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_proposed_uav-soilhealthnet_soil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120640" cy="4389120"/>
          </a:xfrm>
          <a:prstGeom prst="rect">
            <a:avLst/>
          </a:prstGeom>
        </p:spPr>
      </p:pic>
      <p:pic>
        <p:nvPicPr>
          <p:cNvPr id="5" name="Picture 4" descr="cm_proposed_uav-soilhealthnet_health_stat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00200"/>
            <a:ext cx="5212080" cy="446749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Explainable AI with Grad-CAM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quickstart_grad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600200"/>
            <a:ext cx="466344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00200"/>
            <a:ext cx="3840480" cy="4663440"/>
          </a:xfrm>
          <a:prstGeom prst="roundRect">
            <a:avLst/>
          </a:prstGeom>
          <a:solidFill>
            <a:srgbClr val="F8F9FA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b="1" sz="1200">
                <a:solidFill>
                  <a:srgbClr val="102542"/>
                </a:solidFill>
              </a:defRPr>
            </a:pPr>
            <a:r>
              <a:t>WHY EXPLAINABILITY MATTERS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E824C"/>
                </a:solidFill>
              </a:rPr>
              <a:t>✔ Transparent Decision-Making: </a:t>
            </a:r>
            <a:r>
              <a:rPr sz="1050">
                <a:solidFill>
                  <a:srgbClr val="212529"/>
                </a:solidFill>
              </a:rPr>
              <a:t>Agricultural stakeholders and agronomists distrust black-box deep learning. Grad-CAM visualizes what the network 'looks at'.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E824C"/>
                </a:solidFill>
              </a:rPr>
              <a:t>✔ Physical Aggregate Detection: </a:t>
            </a:r>
            <a:r>
              <a:rPr sz="1050">
                <a:solidFill>
                  <a:srgbClr val="212529"/>
                </a:solidFill>
              </a:rPr>
              <a:t>The attention heatmap focuses directly on surface soil clods, crusting lines, and moisture dark spots rather than image background.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E824C"/>
                </a:solidFill>
              </a:rPr>
              <a:t>✔ Verification of CBAM: </a:t>
            </a:r>
            <a:r>
              <a:rPr sz="1050">
                <a:solidFill>
                  <a:srgbClr val="212529"/>
                </a:solidFill>
              </a:rPr>
              <a:t>Confirms that the Convolutional Block Attention Module correctly suppresses peripheral flight noise while elevating soil structural regions.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6291072"/>
            <a:ext cx="4663440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>
              <a:defRPr sz="950" i="1">
                <a:solidFill>
                  <a:srgbClr val="475569"/>
                </a:solidFill>
                <a:latin typeface="Segoe UI"/>
              </a:defRPr>
            </a:pPr>
            <a:r>
              <a:t>Grad-CAM Saliency Map: High activation on soil aggregate clods and surface crusting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5. Decision Support: Live Diagnostic Web Console &amp; ICAR Advisory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20640" cy="4663440"/>
          </a:xfrm>
          <a:prstGeom prst="roundRect">
            <a:avLst/>
          </a:prstGeom>
          <a:solidFill>
            <a:srgbClr val="F5FCF8"/>
          </a:solidFill>
          <a:ln>
            <a:solidFill>
              <a:srgbClr val="A0DC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1000"/>
              </a:spcAft>
              <a:defRPr b="1" sz="1300">
                <a:solidFill>
                  <a:srgbClr val="166534"/>
                </a:solidFill>
                <a:latin typeface="Segoe UI"/>
              </a:defRPr>
            </a:pPr>
            <a:r>
              <a:t>🌾 ICAR-COMPLIANT PRESCRIPTION CARD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0F172A"/>
                </a:solidFill>
                <a:latin typeface="Segoe UI"/>
              </a:rPr>
              <a:t>• Location: </a:t>
            </a:r>
            <a:r>
              <a:rPr sz="1050">
                <a:solidFill>
                  <a:srgbClr val="334155"/>
                </a:solidFill>
                <a:latin typeface="Segoe UI"/>
              </a:rPr>
              <a:t>NIT Kurukshetra Agricultural Research Field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0F172A"/>
                </a:solidFill>
                <a:latin typeface="Segoe UI"/>
              </a:rPr>
              <a:t>• Classified Soil: </a:t>
            </a:r>
            <a:r>
              <a:rPr sz="1050">
                <a:solidFill>
                  <a:srgbClr val="334155"/>
                </a:solidFill>
                <a:latin typeface="Segoe UI"/>
              </a:rPr>
              <a:t>Alluvial Soil (Healthy, SHI: 88.5 / 100)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0F172A"/>
                </a:solidFill>
                <a:latin typeface="Segoe UI"/>
              </a:rPr>
              <a:t>• Recommended Crops: </a:t>
            </a:r>
            <a:r>
              <a:rPr sz="1050">
                <a:solidFill>
                  <a:srgbClr val="334155"/>
                </a:solidFill>
                <a:latin typeface="Segoe UI"/>
              </a:rPr>
              <a:t>Wheat (HD 3086), Paddy (Basmati CSR 30), Sugarcane, Mustard (RGN 73)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0F172A"/>
                </a:solidFill>
                <a:latin typeface="Segoe UI"/>
              </a:rPr>
              <a:t>• Irrigation Protocol: </a:t>
            </a:r>
            <a:r>
              <a:rPr sz="1050">
                <a:solidFill>
                  <a:srgbClr val="334155"/>
                </a:solidFill>
                <a:latin typeface="Segoe UI"/>
              </a:rPr>
              <a:t>Moderate frequency (every 10–14 days), border strip or sprinkler systems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0F172A"/>
                </a:solidFill>
                <a:latin typeface="Segoe UI"/>
              </a:rPr>
              <a:t>• Sustainable Actions: </a:t>
            </a:r>
            <a:r>
              <a:rPr sz="1050">
                <a:solidFill>
                  <a:srgbClr val="334155"/>
                </a:solidFill>
                <a:latin typeface="Segoe UI"/>
              </a:rPr>
              <a:t>Apply microbial bio-decomposer spray post-harvest for rapid stubble decomposition without burning; practice green manuring with Dhaincha.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1000"/>
              </a:spcAft>
              <a:defRPr b="1" sz="1300">
                <a:solidFill>
                  <a:srgbClr val="1E3A8A"/>
                </a:solidFill>
                <a:latin typeface="Segoe UI"/>
              </a:defRPr>
            </a:pPr>
            <a:r>
              <a:t>💻 OPERATIONAL STREAMLIT DIAGNOSTIC CONSOLE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F172A"/>
                </a:solidFill>
                <a:latin typeface="Segoe UI"/>
              </a:rPr>
              <a:t>✔ Real-Time Multi-Task Inference: </a:t>
            </a:r>
            <a:r>
              <a:rPr sz="1000">
                <a:solidFill>
                  <a:srgbClr val="334155"/>
                </a:solidFill>
                <a:latin typeface="Segoe UI"/>
              </a:rPr>
              <a:t>Instant prediction of Soil Type across 7 Indian classes, 3-class Degradation Status, and continuous 0–100 SHI score on field photos.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F172A"/>
                </a:solidFill>
                <a:latin typeface="Segoe UI"/>
              </a:rPr>
              <a:t>✔ Interactive Grad-CAM Saliency: </a:t>
            </a:r>
            <a:r>
              <a:rPr sz="1000">
                <a:solidFill>
                  <a:srgbClr val="334155"/>
                </a:solidFill>
                <a:latin typeface="Segoe UI"/>
              </a:rPr>
              <a:t>Real-time toggle overlaying visual attention heatmaps directly on uploaded soil samples to inspect model focus.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F172A"/>
                </a:solidFill>
                <a:latin typeface="Segoe UI"/>
              </a:rPr>
              <a:t>✔ Automated Vegetation Removal: </a:t>
            </a:r>
            <a:r>
              <a:rPr sz="1000">
                <a:solidFill>
                  <a:srgbClr val="334155"/>
                </a:solidFill>
                <a:latin typeface="Segoe UI"/>
              </a:rPr>
              <a:t>Built-in spectral filter eliminates weed canopy and inpaints bare soil texture before machine learning inference.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F172A"/>
                </a:solidFill>
                <a:latin typeface="Segoe UI"/>
              </a:rPr>
              <a:t>✔ Prescription Card Export: </a:t>
            </a:r>
            <a:r>
              <a:rPr sz="1000">
                <a:solidFill>
                  <a:srgbClr val="334155"/>
                </a:solidFill>
                <a:latin typeface="Segoe UI"/>
              </a:rPr>
              <a:t>One-click generation and instant download of formatted ICAR farmer advisory cards.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F172A"/>
                </a:solidFill>
                <a:latin typeface="Segoe UI"/>
              </a:rPr>
              <a:t>✔ Committee Review Ready: </a:t>
            </a:r>
            <a:r>
              <a:rPr sz="1000">
                <a:solidFill>
                  <a:srgbClr val="334155"/>
                </a:solidFill>
                <a:latin typeface="Segoe UI"/>
              </a:rPr>
              <a:t>Deployed live via streamlit run web_app/app.py for immediate interactive committee evaluation.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Summary &amp;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737360"/>
            <a:ext cx="9448495" cy="4297680"/>
          </a:xfrm>
          <a:prstGeom prst="roundRect">
            <a:avLst/>
          </a:prstGeom>
          <a:solidFill>
            <a:srgbClr val="102542"/>
          </a:solidFill>
          <a:ln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1400"/>
              </a:spcAft>
              <a:defRPr b="1" sz="1400">
                <a:solidFill>
                  <a:srgbClr val="1E3A8A"/>
                </a:solidFill>
                <a:latin typeface="Segoe UI"/>
              </a:defRPr>
            </a:pPr>
            <a:r>
              <a:t>MID-SEMESTER KEY DELIVERABLES SUMMARY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172A"/>
                </a:solidFill>
                <a:latin typeface="Segoe UI"/>
              </a:rPr>
              <a:t>✔  Lightweight Dual-Branch Deep CNN: </a:t>
            </a:r>
            <a:r>
              <a:rPr sz="1100">
                <a:solidFill>
                  <a:srgbClr val="334155"/>
                </a:solidFill>
                <a:latin typeface="Segoe UI"/>
              </a:rPr>
              <a:t>Engineered UAV-SoilHealthNet fusing MobileNetV3 + CBAM attention with 60 Handcrafted Agronomic Features in a compact 14.3 MB footprint (~99% smaller than base paper's 1.4 GB ensemble).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172A"/>
                </a:solidFill>
                <a:latin typeface="Segoe UI"/>
              </a:rPr>
              <a:t>✔  Multi-Task Soil &amp; Health Diagnosis: </a:t>
            </a:r>
            <a:r>
              <a:rPr sz="1100">
                <a:solidFill>
                  <a:srgbClr val="334155"/>
                </a:solidFill>
                <a:latin typeface="Segoe UI"/>
              </a:rPr>
              <a:t>Simultaneously classifies Soil Type across 7 Major Indian Soil Classes and estimates continuous 0–100 Soil Health Index (SHI) based on observable physical surface clods.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172A"/>
                </a:solidFill>
                <a:latin typeface="Segoe UI"/>
              </a:rPr>
              <a:t>✔  Noise Invariance &amp; Physical Grounding: </a:t>
            </a:r>
            <a:r>
              <a:rPr sz="1100">
                <a:solidFill>
                  <a:srgbClr val="334155"/>
                </a:solidFill>
                <a:latin typeface="Segoe UI"/>
              </a:rPr>
              <a:t>The 60 handcrafted features (GLCM Haralick, LBP, and multi-space color moments) provide mathematical stability against field shadows and lighting shifts.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172A"/>
                </a:solidFill>
                <a:latin typeface="Segoe UI"/>
              </a:rPr>
              <a:t>✔  Explainable AI (Grad-CAM): </a:t>
            </a:r>
            <a:r>
              <a:rPr sz="1100">
                <a:solidFill>
                  <a:srgbClr val="334155"/>
                </a:solidFill>
                <a:latin typeface="Segoe UI"/>
              </a:rPr>
              <a:t>Integrated visual attention heatmaps that verify classification activations correlate with actual physical soil aggregates rather than background noise.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172A"/>
                </a:solidFill>
                <a:latin typeface="Segoe UI"/>
              </a:rPr>
              <a:t>✔  Operational Streamlit Diagnostic Console: </a:t>
            </a:r>
            <a:r>
              <a:rPr sz="1100">
                <a:solidFill>
                  <a:srgbClr val="334155"/>
                </a:solidFill>
                <a:latin typeface="Segoe UI"/>
              </a:rPr>
              <a:t>Deployed a live, interactive web application with one-click ICAR/CCS HAU Hisar farmer prescription cards (Haryana cultivars, bio-decomposer stubble spray, and green manuring).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340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b="1" sz="4400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ctr">
              <a:spcAft>
                <a:spcPts val="2000"/>
              </a:spcAft>
              <a:defRPr sz="2200">
                <a:solidFill>
                  <a:srgbClr val="D4AF37"/>
                </a:solidFill>
              </a:defRPr>
            </a:pPr>
            <a:r>
              <a:t>Questions &amp; Technical Discussion</a:t>
            </a:r>
          </a:p>
          <a:p>
            <a:pPr algn="ctr">
              <a:defRPr sz="1300">
                <a:solidFill>
                  <a:srgbClr val="B4CDEB"/>
                </a:solidFill>
              </a:defRPr>
            </a:pPr>
            <a:r>
              <a:t>Department of Computer Engineering | National Institute of Technology Kurukshetra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