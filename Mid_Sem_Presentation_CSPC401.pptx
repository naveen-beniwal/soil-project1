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8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D4AF37"/>
                </a:solidFill>
              </a:defRPr>
            </a:pPr>
            <a:r>
              <a:t>NATIONAL INSTITUTE OF TECHNOLOGY KURUKSHETRA</a:t>
            </a:r>
            <a:br/>
            <a:r>
              <a:t>DEPARTMENT OF COMPUTER ENGINEERING</a:t>
            </a:r>
          </a:p>
          <a:p>
            <a:pPr>
              <a:spcAft>
                <a:spcPts val="1000"/>
              </a:spcAft>
              <a:defRPr sz="2600" b="1">
                <a:solidFill>
                  <a:srgbClr val="FFFFFF"/>
                </a:solidFill>
              </a:defRPr>
            </a:pPr>
            <a:r>
              <a:t>Soil Health Monitoring with UAV Imaging using Machine Learning for Sustainable Farming</a:t>
            </a:r>
          </a:p>
          <a:p>
            <a:pPr>
              <a:defRPr sz="1400">
                <a:solidFill>
                  <a:srgbClr val="B4CDEB"/>
                </a:solidFill>
              </a:defRPr>
            </a:pPr>
            <a:r>
              <a:t>SwaYaan Proof-of-Concept Project (C-DAC Hyderabad / MeitY) | Course Code: CSPC401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114800"/>
            <a:ext cx="9966960" cy="2194560"/>
          </a:xfrm>
          <a:prstGeom prst="roundRect">
            <a:avLst/>
          </a:prstGeom>
          <a:solidFill>
            <a:srgbClr val="183050"/>
          </a:solidFill>
          <a:ln>
            <a:solidFill>
              <a:srgbClr val="32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sz="1050" b="1">
                <a:solidFill>
                  <a:srgbClr val="1E824C"/>
                </a:solidFill>
              </a:defRPr>
            </a:pPr>
            <a:r>
              <a:t>PRESENTED BY: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Naveen (Roll No: 123102131, Section CS-B4)</a:t>
            </a:r>
            <a:br/>
            <a:r>
              <a:t>• Nakul Goutam (Roll No: 123102123, Section CS-B4)</a:t>
            </a:r>
          </a:p>
          <a:p>
            <a:pPr>
              <a:defRPr sz="1050" b="1">
                <a:solidFill>
                  <a:srgbClr val="1E824C"/>
                </a:solidFill>
              </a:defRPr>
            </a:pPr>
            <a:r>
              <a:t>PROJECT SUPERVISORS: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Dr. Ritu Garg, Associate Professor (Principal Investigator)</a:t>
            </a:r>
            <a:br/>
            <a:r>
              <a:t>• Dr. Amandeep Kaur, Assistant Professor (Co-PI)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Presentation Outline &amp;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71907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66420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Problem Identification &amp; Regional Agricultural Context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Challenges in manual soil testing and Kurukshetra/Haryana Alluvial belt degradation risks.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67919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62432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Literature Review &amp; Research Gap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Critique of base paper (Elsevier EAAI 2025 (Sheth et al.)) and justification of our novel dual-branch architecture.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363931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58444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System Architecture: UAV-SoilHealthNet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Cross-modal fusion of MobileNetV3 + CBAM Attention with 60 Handcrafted Agronomic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459943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54456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Progress Achieved: Multi-Task Benchmarking &amp; XAI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Multi-task evaluation (Soil Type, Health Status, SHI Index), Grad-CAM heatmaps &amp; comparison.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9496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555955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50468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Diagnostic Console, Phase 2 GIS Architecture &amp; Project Roadmap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Operational live diagnostic interface, planned Phase 2 GIS spatial mapping design, and 4-phase project roadmap.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1. Problem Identification: Soil Health &amp; Regional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20640" cy="4663440"/>
          </a:xfrm>
          <a:prstGeom prst="roundRect">
            <a:avLst/>
          </a:prstGeom>
          <a:solidFill>
            <a:srgbClr val="FDF6F6"/>
          </a:solidFill>
          <a:ln>
            <a:solidFill>
              <a:srgbClr val="F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200" b="1">
                <a:solidFill>
                  <a:srgbClr val="BE2828"/>
                </a:solidFill>
              </a:defRPr>
            </a:pPr>
            <a:r>
              <a:t>LIMITATIONS OF TRADITIONAL TESTING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Point-Sparse Sampling: </a:t>
            </a:r>
            <a:r>
              <a:rPr sz="1050">
                <a:solidFill>
                  <a:srgbClr val="212529"/>
                </a:solidFill>
              </a:rPr>
              <a:t>In a 20-acre parcel, only 5-10 point samples are taken. Micro-spatial variances between sampling points are completely lost.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High Time Latency: </a:t>
            </a:r>
            <a:r>
              <a:rPr sz="1050">
                <a:solidFill>
                  <a:srgbClr val="212529"/>
                </a:solidFill>
              </a:rPr>
              <a:t>Wet-chemistry laboratory assays take 10-20 days. Farmers frequently apply broadcast fertilizers before test reports arrive.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High Recurring Costs: </a:t>
            </a:r>
            <a:r>
              <a:rPr sz="1050">
                <a:solidFill>
                  <a:srgbClr val="212529"/>
                </a:solidFill>
              </a:rPr>
              <a:t>Testing costs ₹300-₹800/sample, hindering frequent seasonal soil health tracking for smallholders.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No Continuous Spatial Maps: </a:t>
            </a:r>
            <a:r>
              <a:rPr sz="1050">
                <a:solidFill>
                  <a:srgbClr val="212529"/>
                </a:solidFill>
              </a:rPr>
              <a:t>Outputs are tabular numbers, unable to feed modern Variable Rate Application (VRA) precision sprayers.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120640" cy="4663440"/>
          </a:xfrm>
          <a:prstGeom prst="roundRect">
            <a:avLst/>
          </a:prstGeom>
          <a:solidFill>
            <a:srgbClr val="F5FCF8"/>
          </a:solidFill>
          <a:ln>
            <a:solidFill>
              <a:srgbClr val="AADC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200" b="1">
                <a:solidFill>
                  <a:srgbClr val="1E824C"/>
                </a:solidFill>
              </a:defRPr>
            </a:pPr>
            <a:r>
              <a:t>REGIONAL KURUKSHETRA REALITY &amp; UAV FIT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Indo-Gangetic Alluvial Belt: </a:t>
            </a:r>
            <a:r>
              <a:rPr sz="1050">
                <a:solidFill>
                  <a:srgbClr val="212529"/>
                </a:solidFill>
              </a:rPr>
              <a:t>Kurukshetra and Haryana have naturally fertile alluvial soil, but suffer from intensive Rice-Wheat monoculture degradation.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Emerging Degradation Zones: </a:t>
            </a:r>
            <a:r>
              <a:rPr sz="1050">
                <a:solidFill>
                  <a:srgbClr val="212529"/>
                </a:solidFill>
              </a:rPr>
              <a:t>Excessive tube-well irrigation causes localized sodic/saline crusts, soil compaction, and organic carbon depletion.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Low-Altitude UAV Advantage: </a:t>
            </a:r>
            <a:r>
              <a:rPr sz="1050">
                <a:solidFill>
                  <a:srgbClr val="212529"/>
                </a:solidFill>
              </a:rPr>
              <a:t>Drones flying at 15-30m AGL capture high-resolution bare-soil orthomosaics with sub-centimeter GSD before sowing.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Physical Visual Proxies: </a:t>
            </a:r>
            <a:r>
              <a:rPr sz="1050">
                <a:solidFill>
                  <a:srgbClr val="212529"/>
                </a:solidFill>
              </a:rPr>
              <a:t>Soil surface crusting, crack density, structural roughness, and organic darkness proxies can be detected without unscientific claims of reading NPK from RGB pixels.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1. Project Objectives (Aligned with SwaYaan PoC)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71907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4592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Autonomous UAV Data Acquisition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Deploy low-altitude UAV imaging (15-30m AGL, 75-80% overlap) over agricultural plots to capture high-resolution visual surface benchmarks.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7919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60604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Agronomic Feature Extraction Pipeline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Design a 60-dimensional handcrafted feature extractor encoding GLCM Haralick texture, Local Binary Patterns (LBP), and multi-space color moments.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63931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56616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Multi-Task Deep Learning Modeling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Build and optimize UAV-SoilHealthNet to simultaneously perform Soil Type Classification, Health Status Classification, and continuous 0-100 SHI Regression.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59943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52628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Digital Soil Health Mapping (GIS)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Tessellate large aerial orthomosaics into inference grids, generating georeferenced spatial zoning maps (PNG) and interactive Leaflet GIS web maps (HTML).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9496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555955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548640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Farmer-Oriented Decision Support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Translate classified soil zones into actionable, ICAR &amp; CCS HAU Hisar compliant prescription cards (crop suitability, fertilizer NPK ratios, irrigation scheduling).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2. Literature Review &amp; Novelty over Prior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4114800"/>
                <a:gridCol w="411480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Feature / Dimension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Elsevier (2025) Base Paper</a:t>
                      </a:r>
                    </a:p>
                    <a:p>
                      <a:r>
                        <a:t>(Sheth et al., EAAI)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Our Proposed Framework</a:t>
                      </a:r>
                    </a:p>
                    <a:p>
                      <a:r>
                        <a:t>(UAV-SoilHealthNet Phase 1)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Input Imagery Source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Close-up handheld smartphone camera photos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824C"/>
                          </a:solidFill>
                        </a:defRPr>
                      </a:pPr>
                      <a:r>
                        <a:t>Autonomous UAV Aerial Orthomosaics (15-30m AGL)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Model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Standard single-head CNN / MobileNetV2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824C"/>
                          </a:solidFill>
                        </a:defRPr>
                      </a:pPr>
                      <a:r>
                        <a:t>Dual-Branch Cross-Modal Fusion (Deep + 60 Domain Features)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Attention Mechanism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None (standard global pooling)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824C"/>
                          </a:solidFill>
                        </a:defRPr>
                      </a:pPr>
                      <a:r>
                        <a:t>CBAM (Spatial &amp; Channel Attention Module)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Output Capabilities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Single-task only (Soil Type Classification)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824C"/>
                          </a:solidFill>
                        </a:defRPr>
                      </a:pPr>
                      <a:r>
                        <a:t>Multi-Task Joint Heads (Soil Type + Health Status + 0-100 SHI)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Explainability &amp; GIS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Black-box model, no field maps or GIS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824C"/>
                          </a:solidFill>
                        </a:defRPr>
                      </a:pPr>
                      <a:r>
                        <a:t>Integrated Grad-CAM XAI + Leaflet/Folium GIS Web Maps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3. System Architecture: UAV-SoilHealthNet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45643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3456432" cy="7772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D4AF37"/>
                </a:solidFill>
              </a:defRPr>
            </a:pPr>
            <a:r>
              <a:t>BRANCH 1: DEEP VISION</a:t>
            </a:r>
          </a:p>
          <a:p>
            <a:pPr algn="ctr">
              <a:defRPr sz="950">
                <a:solidFill>
                  <a:srgbClr val="FFFFFF"/>
                </a:solidFill>
              </a:defRPr>
            </a:pPr>
            <a:r>
              <a:t>MobileNetV3 Backbone + CBAM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456432" cy="3657600"/>
          </a:xfrm>
          <a:prstGeom prst="rect">
            <a:avLst/>
          </a:prstGeom>
          <a:noFill/>
        </p:spPr>
        <p:txBody>
          <a:bodyPr wrap="square" lIns="228600" rIns="228600" tIns="137160">
            <a:spAutoFit/>
          </a:bodyPr>
          <a:lstStyle/>
          <a:p>
            <a:pPr>
              <a:defRPr sz="1050">
                <a:solidFill>
                  <a:srgbClr val="212529"/>
                </a:solidFill>
              </a:defRPr>
            </a:pPr>
            <a:r>
              <a:t>• Lightweight depthwise-separable convolutional backbone.</a:t>
            </a:r>
            <a:br/>
            <a:r>
              <a:t>• Convolutional Block Attention Module (CBAM) applies spatial and channel attention to focus on soil crusts and texture gradients.</a:t>
            </a:r>
            <a:br/>
            <a:r>
              <a:t>• Produces 256-D Deep Latent Feature Vector.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600200"/>
            <a:ext cx="345643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70832" y="1600200"/>
            <a:ext cx="3456432" cy="7772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D4AF37"/>
                </a:solidFill>
              </a:defRPr>
            </a:pPr>
            <a:r>
              <a:t>BRANCH 2: DOMAIN FEATURES</a:t>
            </a:r>
          </a:p>
          <a:p>
            <a:pPr algn="ctr">
              <a:defRPr sz="950">
                <a:solidFill>
                  <a:srgbClr val="FFFFFF"/>
                </a:solidFill>
              </a:defRPr>
            </a:pPr>
            <a:r>
              <a:t>60 Handcrafted Agronomic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2468880"/>
            <a:ext cx="3456432" cy="3657600"/>
          </a:xfrm>
          <a:prstGeom prst="rect">
            <a:avLst/>
          </a:prstGeom>
          <a:noFill/>
        </p:spPr>
        <p:txBody>
          <a:bodyPr wrap="square" lIns="228600" rIns="228600" tIns="137160">
            <a:spAutoFit/>
          </a:bodyPr>
          <a:lstStyle/>
          <a:p>
            <a:pPr>
              <a:defRPr sz="1050">
                <a:solidFill>
                  <a:srgbClr val="212529"/>
                </a:solidFill>
              </a:defRPr>
            </a:pPr>
            <a:r>
              <a:t>• GLCM Haralick Textures (contrast, dissimilarity, homogeneity, energy, correlation).</a:t>
            </a:r>
            <a:br/>
            <a:r>
              <a:t>• Local Binary Patterns (LBP) for micro-granularity.</a:t>
            </a:r>
            <a:br/>
            <a:r>
              <a:t>• Color moments in RGB, HSV, and Lab color spaces.</a:t>
            </a:r>
            <a:br/>
            <a:r>
              <a:t>• Soil Organic Matter (SOM) optical darkness proxy.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00200"/>
            <a:ext cx="345643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10144" y="1600200"/>
            <a:ext cx="3456432" cy="7772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D4AF37"/>
                </a:solidFill>
              </a:defRPr>
            </a:pPr>
            <a:r>
              <a:t>CROSS-MODAL FUSION</a:t>
            </a:r>
          </a:p>
          <a:p>
            <a:pPr algn="ctr">
              <a:defRPr sz="950">
                <a:solidFill>
                  <a:srgbClr val="FFFFFF"/>
                </a:solidFill>
              </a:defRPr>
            </a:pPr>
            <a:r>
              <a:t>Multi-Task Joint Optimization 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2468880"/>
            <a:ext cx="3456432" cy="3657600"/>
          </a:xfrm>
          <a:prstGeom prst="rect">
            <a:avLst/>
          </a:prstGeom>
          <a:noFill/>
        </p:spPr>
        <p:txBody>
          <a:bodyPr wrap="square" lIns="228600" rIns="228600" tIns="137160">
            <a:spAutoFit/>
          </a:bodyPr>
          <a:lstStyle/>
          <a:p>
            <a:pPr>
              <a:defRPr sz="1050">
                <a:solidFill>
                  <a:srgbClr val="212529"/>
                </a:solidFill>
              </a:defRPr>
            </a:pPr>
            <a:r>
              <a:t>• Feature fusion layer concatenates Deep + Domain features.</a:t>
            </a:r>
            <a:br/>
            <a:r>
              <a:t>• Head 1: Soil Type Classification (7 Indian Types (Alluvial, Arid, Black, Laterite, Mountain, Red, Yellow)).</a:t>
            </a:r>
            <a:br/>
            <a:r>
              <a:t>• Head 2: Soil Health Status (Healthy, Moderate, Degraded).</a:t>
            </a:r>
            <a:br/>
            <a:r>
              <a:t>• Head 3: Continuous Soil Health Index (0-100 SHI).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Comparative Model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00200"/>
          <a:ext cx="51206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05840"/>
                <a:gridCol w="1005840"/>
                <a:gridCol w="1097280"/>
              </a:tblGrid>
              <a:tr h="627017">
                <a:tc>
                  <a:txBody>
                    <a:bodyPr/>
                    <a:lstStyle/>
                    <a:p>
                      <a:r>
                        <a:t>Model Evaluated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Phase 1 Accuracy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F1 Score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Evaluation Status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Baseline MobileNetV2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Baseline SoilCNN (2025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78.71%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80.20%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Random Forest (Baseline 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Support Vector Machine (SVM)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86.40%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r>
                        <a:t>PROPOSED: UAV-SoilHealthNet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80.56%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0.741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Initial Phase 1 Prototype ★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omparative_model_benchmar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303520" cy="31821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Multi-Task Confusion Matrices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_proposed_uav-soilhealthnet_soil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120640" cy="4389120"/>
          </a:xfrm>
          <a:prstGeom prst="rect">
            <a:avLst/>
          </a:prstGeom>
        </p:spPr>
      </p:pic>
      <p:pic>
        <p:nvPicPr>
          <p:cNvPr id="5" name="Picture 4" descr="cm_proposed_uav-soilhealthnet_health_stat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00200"/>
            <a:ext cx="5212080" cy="446749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Explainable AI with Grad-CAM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quickstart_grad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6583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00200"/>
            <a:ext cx="3840480" cy="4663440"/>
          </a:xfrm>
          <a:prstGeom prst="roundRect">
            <a:avLst/>
          </a:prstGeom>
          <a:solidFill>
            <a:srgbClr val="F8F9FA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02542"/>
                </a:solidFill>
              </a:defRPr>
            </a:pPr>
            <a:r>
              <a:t>WHY EXPLAINABILITY MATTERS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E824C"/>
                </a:solidFill>
              </a:rPr>
              <a:t>✔ Transparent Decision-Making: </a:t>
            </a:r>
            <a:r>
              <a:rPr sz="1050">
                <a:solidFill>
                  <a:srgbClr val="212529"/>
                </a:solidFill>
              </a:rPr>
              <a:t>Agricultural stakeholders and agronomists distrust black-box deep learning. Grad-CAM visualizes what the network 'looks at'.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E824C"/>
                </a:solidFill>
              </a:rPr>
              <a:t>✔ Physical Aggregate Detection: </a:t>
            </a:r>
            <a:r>
              <a:rPr sz="1050">
                <a:solidFill>
                  <a:srgbClr val="212529"/>
                </a:solidFill>
              </a:rPr>
              <a:t>The attention heatmap focuses directly on surface soil clods, crusting lines, and moisture dark spots rather than image background.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E824C"/>
                </a:solidFill>
              </a:rPr>
              <a:t>✔ Verification of CBAM: </a:t>
            </a:r>
            <a:r>
              <a:rPr sz="1050">
                <a:solidFill>
                  <a:srgbClr val="212529"/>
                </a:solidFill>
              </a:rPr>
              <a:t>Confirms that the Convolutional Block Attention Module correctly suppresses peripheral flight noise while elevating soil structural regions.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5. Phase 2 Architecture: Proposed Digital GIS Spatial Mapping (Mid-Sem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rukshetra_Agricultural_Plot_A_soil_health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217920" cy="201624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223760" y="1600200"/>
            <a:ext cx="420624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02542"/>
                </a:solidFill>
              </a:defRPr>
            </a:pPr>
            <a:r>
              <a:t>PROPOSED GIS SPATIAL TILING PIPELINE (SCHEDULED FOR MID-SEM 2)</a:t>
            </a:r>
          </a:p>
          <a:p>
            <a:pPr>
              <a:spcAft>
                <a:spcPts val="800"/>
              </a:spcAft>
            </a:pPr>
            <a:r>
              <a:t>• Target Field Site: NIT Kurukshetra Agricultural Research Plots — Indo-Gangetic Alluvial testbed.</a:t>
            </a:r>
          </a:p>
          <a:p>
            <a:pPr>
              <a:spcAft>
                <a:spcPts val="800"/>
              </a:spcAft>
            </a:pPr>
            <a:r>
              <a:t>• Spatial Grid Tessellation: Methodology to slice large aerial orthomosaics into sliding-window spatial tiles (224x224 px) representing contiguous GPS ground parcels.</a:t>
            </a:r>
          </a:p>
          <a:p>
            <a:pPr>
              <a:spcAft>
                <a:spcPts val="800"/>
              </a:spcAft>
            </a:pPr>
            <a:r>
              <a:t>• Multi-Task Spatial Scoring: Each grid tile will be evaluated by UAV-SoilHealthNet to produce 3-color zoning (Healthy, Moderate, Degraded) and continuous SHI maps.</a:t>
            </a:r>
          </a:p>
          <a:p>
            <a:pPr>
              <a:spcAft>
                <a:spcPts val="800"/>
              </a:spcAft>
            </a:pPr>
            <a:r>
              <a:t>• Mid-Sem 2 Scheduled Deliverable: Demonstration of whole-field spatial GIS tiling, acreage statistics, and interactive clickable grid dashboards across diverse agro-climatic zones.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Live Diagnostic Console &amp; Farmer Advisory (Mid-Sem 1 Demo)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20640" cy="4663440"/>
          </a:xfrm>
          <a:prstGeom prst="roundRect">
            <a:avLst/>
          </a:prstGeom>
          <a:solidFill>
            <a:srgbClr val="F5FCF8"/>
          </a:solidFill>
          <a:ln>
            <a:solidFill>
              <a:srgbClr val="A0DC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E824C"/>
                </a:solidFill>
              </a:defRPr>
            </a:pPr>
            <a:r>
              <a:t>🌾 ICAR-COMPLIANT PRESCRIPTION CARD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Location: </a:t>
            </a:r>
            <a:r>
              <a:rPr sz="1000">
                <a:solidFill>
                  <a:srgbClr val="212529"/>
                </a:solidFill>
              </a:rPr>
              <a:t>NIT Kurukshetra Agricultural Research Field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Classified Soil: </a:t>
            </a:r>
            <a:r>
              <a:rPr sz="1000">
                <a:solidFill>
                  <a:srgbClr val="212529"/>
                </a:solidFill>
              </a:rPr>
              <a:t>Alluvial Soil (Healthy, SHI: 88.5/100)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Recommended Crops: </a:t>
            </a:r>
            <a:r>
              <a:rPr sz="1000">
                <a:solidFill>
                  <a:srgbClr val="212529"/>
                </a:solidFill>
              </a:rPr>
              <a:t>Wheat (HD 3086), Paddy (Basmati), Sugarcane, Mustard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Irrigation Schedule: </a:t>
            </a:r>
            <a:r>
              <a:rPr sz="1000">
                <a:solidFill>
                  <a:srgbClr val="212529"/>
                </a:solidFill>
              </a:rPr>
              <a:t>Moderate frequency (every 10-14 days), border strip / sprinkler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Sustainable Actions: </a:t>
            </a:r>
            <a:r>
              <a:rPr sz="1000">
                <a:solidFill>
                  <a:srgbClr val="212529"/>
                </a:solidFill>
              </a:rPr>
              <a:t>Apply microbial bio-decomposer spray post-harvest to rapidly decompose stubble without burning; green manuring (Dhaincha).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02542"/>
                </a:solidFill>
              </a:defRPr>
            </a:pPr>
            <a:r>
              <a:t>💻 OPERATIONAL STREAMLIT DIAGNOSTIC CONSOLE (TAB 1 LIVE DEMO)</a:t>
            </a:r>
          </a:p>
          <a:p>
            <a:pPr>
              <a:spcAft>
                <a:spcPts val="600"/>
              </a:spcAft>
            </a:pPr>
            <a:r>
              <a:t>✔ Real-Time Inference: Instant prediction of Soil Type, 3-class Degradation Status, and 0-100 SHI Score on real field photos.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824C"/>
                </a:solidFill>
              </a:rPr>
              <a:t>✔ Real-Time Grad-CAM: </a:t>
            </a:r>
            <a:r>
              <a:rPr sz="1000">
                <a:solidFill>
                  <a:srgbClr val="212529"/>
                </a:solidFill>
              </a:rPr>
              <a:t>Interactive toggle overlaying visual attention heatmaps on uploaded soil images.</a:t>
            </a:r>
          </a:p>
          <a:p>
            <a:pPr>
              <a:spcAft>
                <a:spcPts val="600"/>
              </a:spcAft>
            </a:pPr>
            <a:r>
              <a:t>✔ Automated Vegetation Removal: Built-in spectral filter eliminates weed canopy and inpaints bare soil texture before ML inference.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824C"/>
                </a:solidFill>
              </a:rPr>
              <a:t>✔ Prescription Card Export: </a:t>
            </a:r>
            <a:r>
              <a:rPr sz="1000">
                <a:solidFill>
                  <a:srgbClr val="212529"/>
                </a:solidFill>
              </a:rPr>
              <a:t>One-click generation and download of formatted farmer advisory cards.</a:t>
            </a:r>
          </a:p>
          <a:p>
            <a:pPr>
              <a:spcAft>
                <a:spcPts val="600"/>
              </a:spcAft>
            </a:pPr>
            <a:r>
              <a:t>✔ Live Evaluation Demo Ready: streamlit run web_app/app.py (Diagnostic Console operational for committee review).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5. Future Work &amp; Phased Implementation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0728655" cy="1051560"/>
          </a:xfrm>
          <a:prstGeom prst="roundRect">
            <a:avLst/>
          </a:prstGeom>
          <a:solidFill>
            <a:srgbClr val="F5FCF8"/>
          </a:solidFill>
          <a:ln>
            <a:solidFill>
              <a:srgbClr val="A0DC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defRPr b="1" sz="1200">
                <a:solidFill>
                  <a:srgbClr val="1E824C"/>
                </a:solidFill>
              </a:defRPr>
            </a:pPr>
            <a:r>
              <a:t>Phase 1: Foundation &amp; Diagnostic AI (COMPLETED - Mid-Sem 1)  [Aug – Oct 2026]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Extracted 60 handcrafted agronomic features &amp; established classical baselines (SVM 90.9%, RF 89.7%).</a:t>
            </a:r>
            <a:br/>
            <a:r>
              <a:t>• Engineered UAV-SoilHealthNet prototype (~80.6% Health Acc, 0.934 AUC) and Grad-CAM interpretability.</a:t>
            </a:r>
            <a:br/>
            <a:r>
              <a:t>• Deployed operational Streamlit Diagnostic Console with automated vegetation inpainting.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10728655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defRPr b="1" sz="1200">
                <a:solidFill>
                  <a:srgbClr val="102542"/>
                </a:solidFill>
              </a:defRPr>
            </a:pPr>
            <a:r>
              <a:t>Phase 2: Combined GIS Spatial Mapping &amp; Field Tiling (SCHEDULED - Mid-Sem 2)  [Nov 2026]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Deploy sliding-window orthomosaic grid tiler and GIS spatial zoning across 4 major Indian agro-zones.</a:t>
            </a:r>
            <a:br/>
            <a:r>
              <a:t>• Integrate interactive clickable Leaflet/HTML spatial dashboard and acreage distribution analytics.</a:t>
            </a:r>
            <a:br/>
            <a:r>
              <a:t>• Prepare edge quantization (ONNX/TensorRT) for UAV companion computers.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77639"/>
            <a:ext cx="10728655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defRPr b="1" sz="1200">
                <a:solidFill>
                  <a:srgbClr val="102542"/>
                </a:solidFill>
              </a:defRPr>
            </a:pPr>
            <a:r>
              <a:t>Phase 3: Autonomous Field Flights &amp; Ground Sampling (SCHEDULED)  [Dec 2026 – Jan 2027]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Execute autonomous grid flights over NIT Kurukshetra campus plots at 15-30m AGL.</a:t>
            </a:r>
            <a:br/>
            <a:r>
              <a:t>• Collect 30-50 georeferenced physical soil core samples with GPS tags before rabi sowing.</a:t>
            </a:r>
            <a:br/>
            <a:r>
              <a:t>• Measure ground-truth laboratory pH, organic carbon (Walkley-Black), and moisture.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66360"/>
            <a:ext cx="10728655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defRPr b="1" sz="1200">
                <a:solidFill>
                  <a:srgbClr val="102542"/>
                </a:solidFill>
              </a:defRPr>
            </a:pPr>
            <a:r>
              <a:t>Phase 4: Model Optimization &amp; Final Thesis Submission (SCHEDULED - End-Sem)  [Feb – Apr 2027]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Fine-tune multi-task loss weighting to scale combined accuracy from ~80% to &gt;92%.</a:t>
            </a:r>
            <a:br/>
            <a:r>
              <a:t>• Validate recommendations with local farming cooperatives in Haryana.</a:t>
            </a:r>
            <a:br/>
            <a:r>
              <a:t>• Final B.Tech thesis defense and research paper submission.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Summary &amp;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737360"/>
            <a:ext cx="9448495" cy="4297680"/>
          </a:xfrm>
          <a:prstGeom prst="roundRect">
            <a:avLst/>
          </a:prstGeom>
          <a:solidFill>
            <a:srgbClr val="102542"/>
          </a:solidFill>
          <a:ln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365760"/>
          <a:lstStyle/>
          <a:p>
            <a:pPr algn="ctr">
              <a:spcAft>
                <a:spcPts val="1400"/>
              </a:spcAft>
              <a:defRPr b="1" sz="1600">
                <a:solidFill>
                  <a:srgbClr val="D4AF37"/>
                </a:solidFill>
              </a:defRPr>
            </a:pPr>
            <a:r>
              <a:t>MID-SEMESTER MILESTONES DELIVERED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FFFFF"/>
                </a:solidFill>
              </a:rPr>
              <a:t>✔  Novel Architecture Beyond Base Paper: </a:t>
            </a:r>
            <a:r>
              <a:rPr sz="1150">
                <a:solidFill>
                  <a:srgbClr val="C8DCF0"/>
                </a:solidFill>
              </a:rPr>
              <a:t>Engineered UAV-SoilHealthNet fusing MobileNetV3 + CBAM attention with 60 agronomic features, advancing beyond the 2023 base paper.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FFFFF"/>
                </a:solidFill>
              </a:rPr>
              <a:t>✔  Multi-Task Capability: </a:t>
            </a:r>
            <a:r>
              <a:rPr sz="1150">
                <a:solidFill>
                  <a:srgbClr val="C8DCF0"/>
                </a:solidFill>
              </a:rPr>
              <a:t>Simultaneously predicts Soil Type, Health Status, and continuous 0-100 Soil Health Index (SHI).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FFFFF"/>
                </a:solidFill>
              </a:rPr>
              <a:t>✔  Explainable &amp; Interpretable: </a:t>
            </a:r>
            <a:r>
              <a:rPr sz="1150">
                <a:solidFill>
                  <a:srgbClr val="C8DCF0"/>
                </a:solidFill>
              </a:rPr>
              <a:t>Grad-CAM visual attention overlays verify that predictions rely on physical soil aggregates and crusts rather than noise.</a:t>
            </a:r>
          </a:p>
          <a:p>
            <a:pPr>
              <a:spcAft>
                <a:spcPts val="1000"/>
              </a:spcAft>
            </a:pPr>
            <a:r>
              <a:t>✔  Operational Diagnostic Console &amp; Clear Roadmap: Demonstrated live single-patch diagnosis and Grad-CAM explainability in Streamlit (Tab 1), with full GIS spatial mapping reserved for Mid-Sem 2 and drone flights for End-Sem.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340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b="1" sz="4400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ctr">
              <a:spcAft>
                <a:spcPts val="2000"/>
              </a:spcAft>
              <a:defRPr sz="2200">
                <a:solidFill>
                  <a:srgbClr val="D4AF37"/>
                </a:solidFill>
              </a:defRPr>
            </a:pPr>
            <a:r>
              <a:t>Questions &amp; Technical Discussion</a:t>
            </a:r>
          </a:p>
          <a:p>
            <a:pPr algn="ctr">
              <a:defRPr sz="1300">
                <a:solidFill>
                  <a:srgbClr val="B4CDEB"/>
                </a:solidFill>
              </a:defRPr>
            </a:pPr>
            <a:r>
              <a:t>Department of Computer Engineering | National Institute of Technology Kurukshetra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