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8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D4AF37"/>
                </a:solidFill>
              </a:defRPr>
            </a:pPr>
            <a:r>
              <a:t>NATIONAL INSTITUTE OF TECHNOLOGY KURUKSHETRA</a:t>
            </a:r>
            <a:br/>
            <a:r>
              <a:t>DEPARTMENT OF COMPUTER ENGINEERING</a:t>
            </a:r>
          </a:p>
          <a:p>
            <a:pPr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Soil Health Monitoring with UAV Imaging using Machine Learning for Sustainable Farming</a:t>
            </a:r>
          </a:p>
          <a:p>
            <a:pPr>
              <a:defRPr sz="1400">
                <a:solidFill>
                  <a:srgbClr val="B4CDEB"/>
                </a:solidFill>
              </a:defRPr>
            </a:pPr>
            <a:r>
              <a:t>SwaYaan Proof-of-Concept Project (C-DAC Hyderabad / MeitY) | Course Code: CSPC401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114800"/>
            <a:ext cx="9966960" cy="2194560"/>
          </a:xfrm>
          <a:prstGeom prst="roundRect">
            <a:avLst/>
          </a:prstGeom>
          <a:solidFill>
            <a:srgbClr val="183050"/>
          </a:solidFill>
          <a:ln>
            <a:solidFill>
              <a:srgbClr val="32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050" b="1">
                <a:solidFill>
                  <a:srgbClr val="1E824C"/>
                </a:solidFill>
              </a:defRPr>
            </a:pPr>
            <a:r>
              <a:t>PRESENTED BY:</a:t>
            </a:r>
          </a:p>
          <a:p>
            <a:pPr>
              <a:spcAft>
                <a:spcPts val="800"/>
              </a:spcAft>
              <a:defRPr sz="1200">
                <a:solidFill>
                  <a:srgbClr val="FFFFFF"/>
                </a:solidFill>
              </a:defRPr>
            </a:pPr>
            <a:r>
              <a:t>• Naveen (Roll No: 123102131, Section CS-B4)</a:t>
            </a:r>
            <a:br/>
            <a:r>
              <a:t>• Nakul Goutam (Roll No: 123102123, Section CS-B4)</a:t>
            </a:r>
          </a:p>
          <a:p>
            <a:pPr>
              <a:defRPr sz="1050" b="1">
                <a:solidFill>
                  <a:srgbClr val="1E824C"/>
                </a:solidFill>
              </a:defRPr>
            </a:pPr>
            <a:r>
              <a:t>PROJECT SUPERVISORS: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Dr. Ritu Garg, Associate Professor (Principal Investigator)</a:t>
            </a:r>
            <a:br/>
            <a:r>
              <a:t>• Dr. Amandeep Kaur, Assistant Professor (Co-PI)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Presentation Outline &amp;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1907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6420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Problem Identification &amp; Regional Agricultural Context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Challenges in manual soil testing and Kurukshetra/Haryana Alluvial belt degradation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67919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62432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Literature Review &amp; Research Gap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Critique of base paper (Elsevier EAAI 2025 (Sheth et al.)) and justification of our novel dual-branch architecture.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63931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58444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System Architecture: UAV-SoilHealthNet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Cross-modal fusion of MobileNetV3 + CBAM Attention with 60 Handcrafted Agronomic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459943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54456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Progress Achieved: Multi-Task Benchmarking &amp; XAI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Multi-task evaluation (Soil Type, Health Status, SHI Index), Grad-CAM heatmaps &amp; comparison.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8F9FA"/>
          </a:solidFill>
          <a:ln>
            <a:solidFill>
              <a:srgbClr val="E1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5559552"/>
            <a:ext cx="822960" cy="502920"/>
          </a:xfrm>
          <a:prstGeom prst="round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504688"/>
            <a:ext cx="932688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50">
                <a:solidFill>
                  <a:srgbClr val="102542"/>
                </a:solidFill>
              </a:defRPr>
            </a:pPr>
            <a:r>
              <a:t>Agricultural Plot Analysis (Tab 2) &amp; Conclusion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Field-scale agricultural plot analysis, spatial zoning heatmaps, interactive Leaflet GIS map, and project summary.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Problem Identification: Soil Health &amp; Regional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DF6F6"/>
          </a:solidFill>
          <a:ln>
            <a:solidFill>
              <a:srgbClr val="F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BE2828"/>
                </a:solidFill>
              </a:defRPr>
            </a:pPr>
            <a:r>
              <a:t>LIMITATIONS OF TRADITIONAL TESTING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Point-Sparse Sampling: </a:t>
            </a:r>
            <a:r>
              <a:rPr sz="1050">
                <a:solidFill>
                  <a:srgbClr val="212529"/>
                </a:solidFill>
              </a:rPr>
              <a:t>In a 20-acre parcel, only 5-10 point samples are taken. Micro-spatial variances between sampling points are completely lost.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Time Latency: </a:t>
            </a:r>
            <a:r>
              <a:rPr sz="1050">
                <a:solidFill>
                  <a:srgbClr val="212529"/>
                </a:solidFill>
              </a:rPr>
              <a:t>Wet-chemistry laboratory assays take 10-20 days. Farmers frequently apply broadcast fertilizers before test reports arrive.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High Recurring Costs: </a:t>
            </a:r>
            <a:r>
              <a:rPr sz="1050">
                <a:solidFill>
                  <a:srgbClr val="212529"/>
                </a:solidFill>
              </a:rPr>
              <a:t>Testing costs ₹300-₹800/sample, hindering frequent seasonal soil health tracking for smallholders.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• No Continuous Spatial Maps: </a:t>
            </a:r>
            <a:r>
              <a:rPr sz="1050">
                <a:solidFill>
                  <a:srgbClr val="212529"/>
                </a:solidFill>
              </a:rPr>
              <a:t>Outputs are tabular numbers, unable to feed modern Variable Rate Application (VRA) precision sprayers.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ADC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200"/>
              </a:spcAft>
              <a:defRPr sz="1200" b="1">
                <a:solidFill>
                  <a:srgbClr val="1E824C"/>
                </a:solidFill>
              </a:defRPr>
            </a:pPr>
            <a:r>
              <a:t>REGIONAL KURUKSHETRA REALITY &amp; UAV FIT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Indo-Gangetic Alluvial Belt: </a:t>
            </a:r>
            <a:r>
              <a:rPr sz="1050">
                <a:solidFill>
                  <a:srgbClr val="212529"/>
                </a:solidFill>
              </a:rPr>
              <a:t>Kurukshetra and Haryana have naturally fertile alluvial soil, but suffer from intensive Rice-Wheat monoculture degradation.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Emerging Degradation Zones: </a:t>
            </a:r>
            <a:r>
              <a:rPr sz="1050">
                <a:solidFill>
                  <a:srgbClr val="212529"/>
                </a:solidFill>
              </a:rPr>
              <a:t>Excessive tube-well irrigation causes localized sodic/saline crusts, soil compaction, and organic carbon depletion.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Low-Altitude UAV Advantage: </a:t>
            </a:r>
            <a:r>
              <a:rPr sz="1050">
                <a:solidFill>
                  <a:srgbClr val="212529"/>
                </a:solidFill>
              </a:rPr>
              <a:t>Drones flying at 15-30m AGL capture high-resolution bare-soil orthomosaics with sub-centimeter GSD before sowing.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02542"/>
                </a:solidFill>
              </a:rPr>
              <a:t>✔ Physical Visual Proxies: </a:t>
            </a:r>
            <a:r>
              <a:rPr sz="1050">
                <a:solidFill>
                  <a:srgbClr val="212529"/>
                </a:solidFill>
              </a:rPr>
              <a:t>Soil surface crusting, crack density, structural roughness, and organic darkness proxies can be detected without unscientific claims of reading NPK from RGB pixels.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1. Project Objectives (Aligned with SwaYaan PoC)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71907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4592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Autonomous UAV Data Acquisition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Deploy low-altitude UAV imaging (15-30m AGL, 75-80% overlap) over agricultural plots to capture high-resolution visual surface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7919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60604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Agronomic Feature Extraction Pipeline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Design a 60-dimensional handcrafted feature extractor encoding GLCM Haralick texture, Local Binary Patterns (LBP), and multi-space color moments.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7472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63931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56616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Multi-Task Deep Learning Modeling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Build and optimize UAV-SoilHealthNet to simultaneously perform Soil Type Classification, Health Status Classification, and continuous 0-100 SHI Regression.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3484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59943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452628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Digital Soil Health Mapping (GIS)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Tessellate large aerial orthomosaics into inference grids, generating georeferenced spatial zoning maps (PNG) and interactive Leaflet GIS web maps (HTML).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94960"/>
            <a:ext cx="10728655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5559552"/>
            <a:ext cx="1371600" cy="50292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Objective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5486400"/>
            <a:ext cx="877824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b="1" sz="1300">
                <a:solidFill>
                  <a:srgbClr val="1E824C"/>
                </a:solidFill>
              </a:defRPr>
            </a:pPr>
            <a:r>
              <a:t>Farmer-Oriented Decision Support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Translate classified soil zones into actionable, ICAR &amp; CCS HAU Hisar compliant prescription cards (crop suitability, fertilizer NPK ratios, irrigation scheduling).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2. Literature Review &amp; Novelty over Prior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55448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055"/>
                <a:gridCol w="4114800"/>
                <a:gridCol w="4114800"/>
              </a:tblGrid>
              <a:tr h="7315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Elsevier EAAI (2025) Base Paper (Sheth et al.)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Our Proposed Framework: UAV-SoilHealthNet (NIT KKR)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Imaging Platform &amp; Operational Scale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Close-up handheld smartphone camera photos (~30 cm) &amp; Google scraped images; evaluates only tiny point soil patches.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Autonomous low-altitude UAV Drone Imagery (15–30m AGL, GSD: 0.8 cm/px); scans entire 10–50 acre agricultural plots.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Model Architecture &amp; Edge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Massive 350M+ parameter ensemble (ViT-L/16 + EffNetV2-Large + ResNet152, &gt;1.4 GB memory); requires cloud desktop RTX 3080 Ti GPU.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Lightweight Dual-Branch UAV-SoilHealthNet (14.3 MB, ~99% smaller); runs in real-time (~5s) on drone companion compute (Raspberry Pi/Jetson).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Feature Representation &amp; Noise Immunity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Pure black-box RGB pixels; vulnerable to lighting shifts, cast shadows, weed foliage, and CycleGAN artifacts (e.g. 34-38% conf).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Cross-Modal Fusion: Deep CNN Attention + 60 Handcrafted Agronomic Descriptors (GLCM Haralick, LBP, Color Moments); immune to background noise.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Soil Chemistry &amp; Diagnostic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Single-task classification only (soil name); requires farmers to manually type N-P-K &amp; pH into phone text boxes (no optical estimation).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Multi-Task Joint Heads: Predicts Soil Type + Degradation Health Status + continuous 0–100 Soil Health Index (SHI) from optical physical proxies.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Explainability &amp; Agricultural Output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100% Black-box (no XAI); generic text crop list ('Rice', 'Wheat') from 270 fuzzy rules; no spatial maps for field treatment.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Integrated Grad-CAM Visual Heatmaps + 2D Digital GIS Spatial Farm Zoning Maps + ICAR/CCS HAU Hisar Actionable Prescription Cards.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3. System Architecture: UAV-SoilHealthNet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1: DEEP VISION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MobileNetV3 Backbone + CBAM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Lightweight depthwise-separable convolutional backbone.</a:t>
            </a:r>
            <a:br/>
            <a:r>
              <a:t>• Convolutional Block Attention Module (CBAM) applies spatial and channel attention to focus on soil crusts and texture gradients.</a:t>
            </a:r>
            <a:br/>
            <a:r>
              <a:t>• Produces 256-D Deep Latent Feature Vector.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70832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BRANCH 2: DOMAIN FEATURES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60 Handcrafted Agronomic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GLCM Haralick Textures (contrast, dissimilarity, homogeneity, energy, correlation).</a:t>
            </a:r>
            <a:br/>
            <a:r>
              <a:t>• Local Binary Patterns (LBP) for micro-granularity.</a:t>
            </a:r>
            <a:br/>
            <a:r>
              <a:t>• Color moments in RGB, HSV, and Lab color spaces.</a:t>
            </a:r>
            <a:br/>
            <a:r>
              <a:t>• Soil Organic Matter (SOM) optical darkness proxy.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600200"/>
            <a:ext cx="3456432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10144" y="1600200"/>
            <a:ext cx="3456432" cy="7772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100" b="1">
                <a:solidFill>
                  <a:srgbClr val="D4AF37"/>
                </a:solidFill>
              </a:defRPr>
            </a:pPr>
            <a:r>
              <a:t>CROSS-MODAL FUSION</a:t>
            </a:r>
          </a:p>
          <a:p>
            <a:pPr algn="ctr">
              <a:defRPr sz="950">
                <a:solidFill>
                  <a:srgbClr val="FFFFFF"/>
                </a:solidFill>
              </a:defRPr>
            </a:pPr>
            <a:r>
              <a:t>Multi-Task Joint Optimization 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2468880"/>
            <a:ext cx="3456432" cy="3657600"/>
          </a:xfrm>
          <a:prstGeom prst="rect">
            <a:avLst/>
          </a:prstGeom>
          <a:noFill/>
        </p:spPr>
        <p:txBody>
          <a:bodyPr wrap="square" lIns="228600" rIns="228600" tIns="137160">
            <a:spAutoFit/>
          </a:bodyPr>
          <a:lstStyle/>
          <a:p>
            <a:pPr>
              <a:defRPr sz="1050">
                <a:solidFill>
                  <a:srgbClr val="212529"/>
                </a:solidFill>
              </a:defRPr>
            </a:pPr>
            <a:r>
              <a:t>• Feature fusion layer concatenates Deep + Domain features.</a:t>
            </a:r>
            <a:br/>
            <a:r>
              <a:t>• Head 1: Soil Type Classification (7 Indian Types (Alluvial, Arid, Black, Laterite, Mountain, Red, Yellow)).</a:t>
            </a:r>
            <a:br/>
            <a:r>
              <a:t>• Head 2: Soil Health Status (Healthy, Moderate, Degraded).</a:t>
            </a:r>
            <a:br/>
            <a:r>
              <a:t>• Head 3: Continuous Soil Health Index (0-100 SHI).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Comparative Model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00200"/>
          <a:ext cx="51206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097280"/>
              </a:tblGrid>
              <a:tr h="627017">
                <a:tc>
                  <a:txBody>
                    <a:bodyPr/>
                    <a:lstStyle/>
                    <a:p>
                      <a:r>
                        <a:t>Model Evaluated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Test Accuracy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F1 Score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Status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MobileNetV2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75.29%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Baseline SoilCNN (2025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80.20%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Random Forest (Baseline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r>
                        <a:t>Support Vector Machine (SVM)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86.40%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Baseline Established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r>
                        <a:t>PROPOSED: UAV-SoilHealthNet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80.56%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0.741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Proposed Dual-Branch Model ★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omparative_model_benchmar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303520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Multi-Task 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m_proposed_uav-soilhealthnet_soil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4389120"/>
          </a:xfrm>
          <a:prstGeom prst="rect">
            <a:avLst/>
          </a:prstGeom>
        </p:spPr>
      </p:pic>
      <p:pic>
        <p:nvPicPr>
          <p:cNvPr id="5" name="Picture 4" descr="cm_proposed_uav-soilhealthnet_health_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5212080" cy="446749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Progress Achieved: Explainable AI with Grad-CAM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quickstart_grad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6583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89520" y="1600200"/>
            <a:ext cx="3840480" cy="4663440"/>
          </a:xfrm>
          <a:prstGeom prst="roundRect">
            <a:avLst/>
          </a:prstGeom>
          <a:solidFill>
            <a:srgbClr val="F8F9FA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WHY EXPLAINABILITY MATTERS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Transparent Decision-Making: </a:t>
            </a:r>
            <a:r>
              <a:rPr sz="1050">
                <a:solidFill>
                  <a:srgbClr val="212529"/>
                </a:solidFill>
              </a:rPr>
              <a:t>Agricultural stakeholders and agronomists distrust black-box deep learning. Grad-CAM visualizes what the network 'looks at'.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Physical Aggregate Detection: </a:t>
            </a:r>
            <a:r>
              <a:rPr sz="1050">
                <a:solidFill>
                  <a:srgbClr val="212529"/>
                </a:solidFill>
              </a:rPr>
              <a:t>The attention heatmap focuses directly on surface soil clods, crusting lines, and moisture dark spots rather than image background.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1E824C"/>
                </a:solidFill>
              </a:rPr>
              <a:t>✔ Verification of CBAM: </a:t>
            </a:r>
            <a:r>
              <a:rPr sz="1050">
                <a:solidFill>
                  <a:srgbClr val="212529"/>
                </a:solidFill>
              </a:rPr>
              <a:t>Confirms that the Convolutional Block Attention Module correctly suppresses peripheral flight noise while elevating soil structural regions.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Field Analysis: Digital GIS Spatial Agricultural Plot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rukshetra_Agricultural_Plot_A_soil_health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217920" cy="201624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223760" y="1600200"/>
            <a:ext cx="420624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OPERATIONAL GIS SPATIAL TILING PIPELINE &amp; INTERACTIVE DASHBOARD</a:t>
            </a:r>
          </a:p>
          <a:p>
            <a:pPr>
              <a:spcAft>
                <a:spcPts val="800"/>
              </a:spcAft>
            </a:pPr>
            <a:r>
              <a:t>• Target Field Site: NIT Kurukshetra Agricultural Research Plots — Indo-Gangetic Alluvial testbed.</a:t>
            </a:r>
          </a:p>
          <a:p>
            <a:pPr>
              <a:spcAft>
                <a:spcPts val="800"/>
              </a:spcAft>
            </a:pPr>
            <a:r>
              <a:t>• Spatial Grid Tessellation: Methodology to slice large aerial orthomosaics into sliding-window spatial tiles (224x224 px) representing contiguous GPS ground parcels.</a:t>
            </a:r>
          </a:p>
          <a:p>
            <a:pPr>
              <a:spcAft>
                <a:spcPts val="800"/>
              </a:spcAft>
            </a:pPr>
            <a:r>
              <a:t>• Multi-Task Spatial Scoring: Each grid tile will be evaluated by UAV-SoilHealthNet to produce 3-color zoning (Healthy, Moderate, Degraded) and continuous SHI maps.</a:t>
            </a:r>
          </a:p>
          <a:p>
            <a:pPr>
              <a:spcAft>
                <a:spcPts val="800"/>
              </a:spcAft>
            </a:pPr>
            <a:r>
              <a:t>• Operational Field Asset: Functional GIS spatial orthomosaic tiler generating high-res zoning heatmaps (PNG) and interactive Leaflet HTML web dashboards across diverse agro-climatic zones.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4. Decision Support: Live Diagnostic Console &amp; ICAR Farmer Advisory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2064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E824C"/>
                </a:solidFill>
              </a:defRPr>
            </a:pPr>
            <a:r>
              <a:t>🌾 ICAR-COMPLIANT PRESCRIPTION CARD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Location: </a:t>
            </a:r>
            <a:r>
              <a:rPr sz="1000">
                <a:solidFill>
                  <a:srgbClr val="212529"/>
                </a:solidFill>
              </a:rPr>
              <a:t>NIT Kurukshetra Agricultural Research Field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Classified Soil: </a:t>
            </a:r>
            <a:r>
              <a:rPr sz="1000">
                <a:solidFill>
                  <a:srgbClr val="212529"/>
                </a:solidFill>
              </a:rPr>
              <a:t>Alluvial Soil (Healthy, SHI: 88.5/100)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Recommended Crops: </a:t>
            </a:r>
            <a:r>
              <a:rPr sz="1000">
                <a:solidFill>
                  <a:srgbClr val="212529"/>
                </a:solidFill>
              </a:rPr>
              <a:t>Wheat (HD 3086), Paddy (Basmati), Sugarcane, Mustard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Irrigation Schedule: </a:t>
            </a:r>
            <a:r>
              <a:rPr sz="1000">
                <a:solidFill>
                  <a:srgbClr val="212529"/>
                </a:solidFill>
              </a:rPr>
              <a:t>Moderate frequency (every 10-14 days), border strip / sprinkler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02542"/>
                </a:solidFill>
              </a:rPr>
              <a:t>Sustainable Actions: </a:t>
            </a:r>
            <a:r>
              <a:rPr sz="1000">
                <a:solidFill>
                  <a:srgbClr val="212529"/>
                </a:solidFill>
              </a:rPr>
              <a:t>Apply microbial bio-decomposer spray post-harvest to rapidly decompose stubble without burning; green manuring (Dhaincha).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00200"/>
            <a:ext cx="521208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320040"/>
          <a:lstStyle/>
          <a:p>
            <a:pPr algn="ctr">
              <a:spcAft>
                <a:spcPts val="1000"/>
              </a:spcAft>
              <a:defRPr b="1" sz="1200">
                <a:solidFill>
                  <a:srgbClr val="102542"/>
                </a:solidFill>
              </a:defRPr>
            </a:pPr>
            <a:r>
              <a:t>💻 OPERATIONAL STREAMLIT DIAGNOSTIC CONSOLE (TAB 1 LIVE DEMO)</a:t>
            </a:r>
          </a:p>
          <a:p>
            <a:pPr>
              <a:spcAft>
                <a:spcPts val="600"/>
              </a:spcAft>
            </a:pPr>
            <a:r>
              <a:t>✔ Real-Time Inference: Instant prediction of Soil Type, 3-class Degradation Status, and 0-100 SHI Score on real field photos.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824C"/>
                </a:solidFill>
              </a:rPr>
              <a:t>✔ Real-Time Grad-CAM: </a:t>
            </a:r>
            <a:r>
              <a:rPr sz="1000">
                <a:solidFill>
                  <a:srgbClr val="212529"/>
                </a:solidFill>
              </a:rPr>
              <a:t>Interactive toggle overlaying visual attention heatmaps on uploaded soil images.</a:t>
            </a:r>
          </a:p>
          <a:p>
            <a:pPr>
              <a:spcAft>
                <a:spcPts val="600"/>
              </a:spcAft>
            </a:pPr>
            <a:r>
              <a:t>✔ Automated Vegetation Removal: Built-in spectral filter eliminates weed canopy and inpaints bare soil texture before ML inference.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1E824C"/>
                </a:solidFill>
              </a:rPr>
              <a:t>✔ Prescription Card Export: </a:t>
            </a:r>
            <a:r>
              <a:rPr sz="1000">
                <a:solidFill>
                  <a:srgbClr val="212529"/>
                </a:solidFill>
              </a:rPr>
              <a:t>One-click generation and download of formatted farmer advisory cards.</a:t>
            </a:r>
          </a:p>
          <a:p>
            <a:pPr>
              <a:spcAft>
                <a:spcPts val="600"/>
              </a:spcAft>
            </a:pPr>
            <a:r>
              <a:t>✔ Live Evaluation Demo Ready: streamlit run web_app/app.py (Diagnostic Console operational for committee review).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5. Field Demonstration: Complete Agricultural Plot Analysis (Interface Tab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66360" cy="4663440"/>
          </a:xfrm>
          <a:prstGeom prst="roundRect">
            <a:avLst/>
          </a:prstGeom>
          <a:solidFill>
            <a:srgbClr val="F5FCF8"/>
          </a:solidFill>
          <a:ln>
            <a:solidFill>
              <a:srgbClr val="A0DC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300">
                <a:solidFill>
                  <a:srgbClr val="1E3A8A"/>
                </a:solidFill>
              </a:defRPr>
            </a:pPr>
            <a:r>
              <a:t>FIELD ORTHOMOSAIC GRID TILING &amp; HEALTH ZONING (TAB 2)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Plot-Scale Aerial Ingestion: </a:t>
            </a:r>
            <a:r>
              <a:rPr>
                <a:solidFill>
                  <a:srgbClr val="334155"/>
                </a:solidFill>
              </a:rPr>
              <a:t>Ingests large high-resolution field orthomosaics (e.g., Kurukshetra Agricultural Plot A, 12.5 Acres) and tessellates the field into an inference grid (50x50m spatial ground cells).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Multi-Task Parcel Evaluation: </a:t>
            </a:r>
            <a:r>
              <a:rPr>
                <a:solidFill>
                  <a:srgbClr val="334155"/>
                </a:solidFill>
              </a:rPr>
              <a:t>Each spatial grid cell is evaluated by the Dual-Branch CNN + 60 handcrafted agronomic feature engine, estimating soil type, degradation status, and continuous 0–100 SHI.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Automated Intra-Field Zonation: </a:t>
            </a:r>
            <a:r>
              <a:rPr>
                <a:solidFill>
                  <a:srgbClr val="334155"/>
                </a:solidFill>
              </a:rPr>
              <a:t>Compiles parcel predictions into a continuous 2D spatial zoning heatmap color-coded into Healthy (Green), Moderately Healthy (Yellow), and Degraded (Red) zones.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Micro-Variation Detection: </a:t>
            </a:r>
            <a:r>
              <a:rPr>
                <a:solidFill>
                  <a:srgbClr val="334155"/>
                </a:solidFill>
              </a:rPr>
              <a:t>Pinpoints localized degradation and sandy patches inside an otherwise fertile plot, avoiding uniform blanket chemical applications.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Universal Field Upload Support: </a:t>
            </a:r>
            <a:r>
              <a:rPr>
                <a:solidFill>
                  <a:srgbClr val="334155"/>
                </a:solidFill>
              </a:rPr>
              <a:t>The web interface allows users to upload ANY high-resolution aerial survey capture or drone mosaic to generate instant live parcel maps.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554480"/>
            <a:ext cx="516636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/>
          <a:lstStyle/>
          <a:p>
            <a:pPr algn="ctr">
              <a:defRPr b="1" sz="1300">
                <a:solidFill>
                  <a:srgbClr val="166534"/>
                </a:solidFill>
              </a:defRPr>
            </a:pPr>
            <a:r>
              <a:t>INTERACTIVE GPS MAP &amp; ICAR PRECISION ACTION PLAN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Interactive Leaflet GPS Navigation: </a:t>
            </a:r>
            <a:r>
              <a:rPr>
                <a:solidFill>
                  <a:srgbClr val="334155"/>
                </a:solidFill>
              </a:rPr>
              <a:t>Renders an interactive HTML web map enabling committee members and agronomists to zoom and click on any individual parcel marker.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Coordinate-Specific Soil Diagnostics: </a:t>
            </a:r>
            <a:r>
              <a:rPr>
                <a:solidFill>
                  <a:srgbClr val="334155"/>
                </a:solidFill>
              </a:rPr>
              <a:t>Clicking any GPS marker displays the exact classified soil category, degradation severity, and 0–100 Soil Health Index for that specific plot coordinate.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Tailored ICAR Farming Prescriptions: </a:t>
            </a:r>
            <a:r>
              <a:rPr>
                <a:solidFill>
                  <a:srgbClr val="334155"/>
                </a:solidFill>
              </a:rPr>
              <a:t>Generates site-specific crop selections (Wheat HD 3086, Basmati Paddy, Mustard) and precision fertilizer/irrigation schedules calibrated to ICAR and CCS HAU Hisar norms.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Variable-Rate Spot Treatment: </a:t>
            </a:r>
            <a:r>
              <a:rPr>
                <a:solidFill>
                  <a:srgbClr val="334155"/>
                </a:solidFill>
              </a:rPr>
              <a:t>Enables targeted application of bio-decomposer spray, gypsum, or organic compost strictly where degradation occurs, significantly lowering input costs.</a:t>
            </a:r>
          </a:p>
          <a:p>
            <a:pPr>
              <a:spcBef>
                <a:spcPts val="600"/>
              </a:spcBef>
              <a:defRPr sz="1050"/>
            </a:pPr>
            <a:r>
              <a:rPr b="1">
                <a:solidFill>
                  <a:srgbClr val="0F172A"/>
                </a:solidFill>
              </a:rPr>
              <a:t>• Standalone Production Utility: </a:t>
            </a:r>
            <a:r>
              <a:rPr>
                <a:solidFill>
                  <a:srgbClr val="334155"/>
                </a:solidFill>
              </a:rPr>
              <a:t>Provides full agricultural decision support from standard high-resolution aerial imagery, delivering immediate real-world utility without requiring complex flight hardware during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824C"/>
                </a:solidFill>
              </a:defRPr>
            </a:pPr>
            <a:r>
              <a:t>MID-SEMESTER EVALUATION (CSPC401)</a:t>
            </a:r>
          </a:p>
          <a:p>
            <a:pPr>
              <a:defRPr sz="2100" b="1">
                <a:solidFill>
                  <a:srgbClr val="102542"/>
                </a:solidFill>
              </a:defRPr>
            </a:pPr>
            <a:r>
              <a:t>Summary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DCE0E6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737360"/>
            <a:ext cx="9448495" cy="4297680"/>
          </a:xfrm>
          <a:prstGeom prst="roundRect">
            <a:avLst/>
          </a:prstGeom>
          <a:solidFill>
            <a:srgbClr val="102542"/>
          </a:solidFill>
          <a:ln>
            <a:solidFill>
              <a:srgbClr val="284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spcAft>
                <a:spcPts val="1400"/>
              </a:spcAft>
              <a:defRPr b="1" sz="1600">
                <a:solidFill>
                  <a:srgbClr val="D4AF37"/>
                </a:solidFill>
              </a:defRPr>
            </a:pPr>
            <a:r>
              <a:t>MID-SEMESTER MILESTONES DELIVERED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Novel Architecture Beyond Base Paper: </a:t>
            </a:r>
            <a:r>
              <a:rPr sz="1150">
                <a:solidFill>
                  <a:srgbClr val="C8DCF0"/>
                </a:solidFill>
              </a:rPr>
              <a:t>Engineered UAV-SoilHealthNet fusing MobileNetV3 + CBAM attention with 60 agronomic features, advancing beyond the 2023 base paper.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Multi-Task Capability: </a:t>
            </a:r>
            <a:r>
              <a:rPr sz="1150">
                <a:solidFill>
                  <a:srgbClr val="C8DCF0"/>
                </a:solidFill>
              </a:rPr>
              <a:t>Simultaneously predicts Soil Type, Health Status, and continuous 0-100 Soil Health Index (SHI).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FFFFFF"/>
                </a:solidFill>
              </a:rPr>
              <a:t>✔  Explainable &amp; Interpretable: </a:t>
            </a:r>
            <a:r>
              <a:rPr sz="1150">
                <a:solidFill>
                  <a:srgbClr val="C8DCF0"/>
                </a:solidFill>
              </a:rPr>
              <a:t>Grad-CAM visual attention overlays verify that predictions rely on physical soil aggregates and crusts rather than noise.</a:t>
            </a:r>
          </a:p>
          <a:p>
            <a:pPr>
              <a:spcAft>
                <a:spcPts val="1000"/>
              </a:spcAft>
            </a:pPr>
            <a:r>
              <a:t>✔  Complete Dual-Tab Field Diagnostic Platform: Deployed a production-ready Streamlit interface integrating Tab 1 (Point-level sample diagnosis, Grad-CAM XAI &amp; ICAR advisory cards) and Tab 2 (Whole-farm agricultural plot GIS spatial tiling &amp; interactive Leaflet GPS mapping).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340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b="1" sz="4400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ctr">
              <a:spcAft>
                <a:spcPts val="2000"/>
              </a:spcAft>
              <a:defRPr sz="2200">
                <a:solidFill>
                  <a:srgbClr val="D4AF37"/>
                </a:solidFill>
              </a:defRPr>
            </a:pPr>
            <a:r>
              <a:t>Questions &amp; Technical Discussion</a:t>
            </a:r>
          </a:p>
          <a:p>
            <a:pPr algn="ctr">
              <a:defRPr sz="1300">
                <a:solidFill>
                  <a:srgbClr val="B4CDEB"/>
                </a:solidFill>
              </a:defRPr>
            </a:pPr>
            <a:r>
              <a:t>Department of Computer Engineering | National Institute of Technology Kurukshetra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